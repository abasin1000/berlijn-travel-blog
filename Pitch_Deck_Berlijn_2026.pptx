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4C8C"/>
        </a:solidFill>
      </p:bgPr>
    </p:bg>
    <p:spTree>
      <p:nvGrpSpPr>
        <p:cNvPr id="1" name=""/>
        <p:cNvGrpSpPr/>
        <p:nvPr/>
      </p:nvGrpSpPr>
      <p:grpSpPr>
        <a:xfrm>
          <a:off x="0" y="0"/>
          <a:ext cx="0" cy="0"/>
          <a:chOff x="0" y="0"/>
          <a:chExt cx="0" cy="0"/>
        </a:xfrm>
      </p:grpSpPr>
      <p:sp>
        <p:nvSpPr>
          <p:cNvPr id="2" name="Shape 0"/>
          <p:cNvSpPr/>
          <p:nvPr/>
        </p:nvSpPr>
        <p:spPr>
          <a:xfrm>
            <a:off x="0" y="4069080"/>
            <a:ext cx="9144000" cy="1078992"/>
          </a:xfrm>
          <a:prstGeom prst="rect">
            <a:avLst/>
          </a:prstGeom>
          <a:solidFill>
            <a:srgbClr val="F2C744"/>
          </a:solidFill>
          <a:ln/>
        </p:spPr>
      </p:sp>
      <p:sp>
        <p:nvSpPr>
          <p:cNvPr id="3" name="Shape 1"/>
          <p:cNvSpPr/>
          <p:nvPr/>
        </p:nvSpPr>
        <p:spPr>
          <a:xfrm>
            <a:off x="7406640" y="411480"/>
            <a:ext cx="1188720" cy="1188720"/>
          </a:xfrm>
          <a:prstGeom prst="ellipse">
            <a:avLst/>
          </a:prstGeom>
          <a:solidFill>
            <a:srgbClr val="E8703A"/>
          </a:solidFill>
          <a:ln/>
        </p:spPr>
      </p:sp>
      <p:sp>
        <p:nvSpPr>
          <p:cNvPr id="4" name="Text 2"/>
          <p:cNvSpPr/>
          <p:nvPr/>
        </p:nvSpPr>
        <p:spPr>
          <a:xfrm>
            <a:off x="548640" y="914400"/>
            <a:ext cx="8046720" cy="320040"/>
          </a:xfrm>
          <a:prstGeom prst="rect">
            <a:avLst/>
          </a:prstGeom>
          <a:noFill/>
          <a:ln/>
        </p:spPr>
        <p:txBody>
          <a:bodyPr wrap="square" rtlCol="0" anchor="ctr"/>
          <a:lstStyle/>
          <a:p>
            <a:pPr indent="0" marL="0">
              <a:buNone/>
            </a:pPr>
            <a:r>
              <a:rPr lang="en-US" sz="1400" b="1" spc="400" kern="0" dirty="0">
                <a:solidFill>
                  <a:srgbClr val="F2C744"/>
                </a:solidFill>
                <a:latin typeface="Arial" pitchFamily="34" charset="0"/>
                <a:ea typeface="Arial" pitchFamily="34" charset="-122"/>
                <a:cs typeface="Arial" pitchFamily="34" charset="-120"/>
              </a:rPr>
              <a:t>ERASMUS+ STUDIEREIS · APRIL 2026</a:t>
            </a:r>
            <a:endParaRPr lang="en-US" sz="1400" dirty="0"/>
          </a:p>
        </p:txBody>
      </p:sp>
      <p:sp>
        <p:nvSpPr>
          <p:cNvPr id="5" name="Text 3"/>
          <p:cNvSpPr/>
          <p:nvPr/>
        </p:nvSpPr>
        <p:spPr>
          <a:xfrm>
            <a:off x="548640" y="1280160"/>
            <a:ext cx="8046720" cy="914400"/>
          </a:xfrm>
          <a:prstGeom prst="rect">
            <a:avLst/>
          </a:prstGeom>
          <a:noFill/>
          <a:ln/>
        </p:spPr>
        <p:txBody>
          <a:bodyPr wrap="square" rtlCol="0" anchor="ctr"/>
          <a:lstStyle/>
          <a:p>
            <a:pPr indent="0" marL="0">
              <a:buNone/>
            </a:pPr>
            <a:r>
              <a:rPr lang="en-US" sz="4600" spc="400" kern="0" dirty="0">
                <a:solidFill>
                  <a:srgbClr val="FFFFFF"/>
                </a:solidFill>
                <a:latin typeface="Arial Black" pitchFamily="34" charset="0"/>
                <a:ea typeface="Arial Black" pitchFamily="34" charset="-122"/>
                <a:cs typeface="Arial Black" pitchFamily="34" charset="-120"/>
              </a:rPr>
              <a:t>URBAN TRAVEL BLOG</a:t>
            </a:r>
            <a:endParaRPr lang="en-US" sz="4600" dirty="0"/>
          </a:p>
        </p:txBody>
      </p:sp>
      <p:sp>
        <p:nvSpPr>
          <p:cNvPr id="6" name="Text 4"/>
          <p:cNvSpPr/>
          <p:nvPr/>
        </p:nvSpPr>
        <p:spPr>
          <a:xfrm>
            <a:off x="548640" y="2240280"/>
            <a:ext cx="8046720" cy="822960"/>
          </a:xfrm>
          <a:prstGeom prst="rect">
            <a:avLst/>
          </a:prstGeom>
          <a:noFill/>
          <a:ln/>
        </p:spPr>
        <p:txBody>
          <a:bodyPr wrap="square" rtlCol="0" anchor="ctr"/>
          <a:lstStyle/>
          <a:p>
            <a:pPr indent="0" marL="0">
              <a:buNone/>
            </a:pPr>
            <a:r>
              <a:rPr lang="en-US" sz="4000" spc="800" kern="0" dirty="0">
                <a:solidFill>
                  <a:srgbClr val="CFE0E8"/>
                </a:solidFill>
                <a:latin typeface="Arial Black" pitchFamily="34" charset="0"/>
                <a:ea typeface="Arial Black" pitchFamily="34" charset="-122"/>
                <a:cs typeface="Arial Black" pitchFamily="34" charset="-120"/>
              </a:rPr>
              <a:t>BERLIJN 2026</a:t>
            </a:r>
            <a:endParaRPr lang="en-US" sz="4000" dirty="0"/>
          </a:p>
        </p:txBody>
      </p:sp>
      <p:sp>
        <p:nvSpPr>
          <p:cNvPr id="7" name="Text 5"/>
          <p:cNvSpPr/>
          <p:nvPr/>
        </p:nvSpPr>
        <p:spPr>
          <a:xfrm>
            <a:off x="548640" y="3246120"/>
            <a:ext cx="8046720" cy="32004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Pitch — Grafisch &amp; Functioneel Ontwerp · Periode 4</a:t>
            </a:r>
            <a:endParaRPr lang="en-US" sz="1500" dirty="0"/>
          </a:p>
        </p:txBody>
      </p:sp>
      <p:sp>
        <p:nvSpPr>
          <p:cNvPr id="8" name="Text 6"/>
          <p:cNvSpPr/>
          <p:nvPr/>
        </p:nvSpPr>
        <p:spPr>
          <a:xfrm>
            <a:off x="548640" y="4325112"/>
            <a:ext cx="8046720" cy="548640"/>
          </a:xfrm>
          <a:prstGeom prst="rect">
            <a:avLst/>
          </a:prstGeom>
          <a:noFill/>
          <a:ln/>
        </p:spPr>
        <p:txBody>
          <a:bodyPr wrap="square" rtlCol="0" anchor="ctr"/>
          <a:lstStyle/>
          <a:p>
            <a:pPr indent="0" marL="0">
              <a:buNone/>
            </a:pPr>
            <a:r>
              <a:rPr lang="en-US" sz="1500" b="1" dirty="0">
                <a:solidFill>
                  <a:srgbClr val="2B4C8C"/>
                </a:solidFill>
                <a:latin typeface="Arial" pitchFamily="34" charset="0"/>
                <a:ea typeface="Arial" pitchFamily="34" charset="-122"/>
                <a:cs typeface="Arial" pitchFamily="34" charset="-120"/>
              </a:rPr>
              <a:t>Aba &amp; Rick   ·   Docent: Wouter van Ginneken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200" b="1" spc="300" kern="0" dirty="0">
                <a:solidFill>
                  <a:srgbClr val="E8703A"/>
                </a:solidFill>
                <a:latin typeface="Arial" pitchFamily="34" charset="0"/>
                <a:ea typeface="Arial" pitchFamily="34" charset="-122"/>
                <a:cs typeface="Arial" pitchFamily="34" charset="-120"/>
              </a:rPr>
              <a:t>AANLEIDING</a:t>
            </a:r>
            <a:endParaRPr lang="en-US" sz="1200" dirty="0"/>
          </a:p>
        </p:txBody>
      </p:sp>
      <p:sp>
        <p:nvSpPr>
          <p:cNvPr id="3" name="Text 1"/>
          <p:cNvSpPr/>
          <p:nvPr/>
        </p:nvSpPr>
        <p:spPr>
          <a:xfrm>
            <a:off x="457200" y="548640"/>
            <a:ext cx="8229600" cy="548640"/>
          </a:xfrm>
          <a:prstGeom prst="rect">
            <a:avLst/>
          </a:prstGeom>
          <a:noFill/>
          <a:ln/>
        </p:spPr>
        <p:txBody>
          <a:bodyPr wrap="square" rtlCol="0" anchor="ctr"/>
          <a:lstStyle/>
          <a:p>
            <a:pPr indent="0" marL="0">
              <a:buNone/>
            </a:pPr>
            <a:r>
              <a:rPr lang="en-US" sz="2800" dirty="0">
                <a:solidFill>
                  <a:srgbClr val="2B4C8C"/>
                </a:solidFill>
                <a:latin typeface="Arial Black" pitchFamily="34" charset="0"/>
                <a:ea typeface="Arial Black" pitchFamily="34" charset="-122"/>
                <a:cs typeface="Arial Black" pitchFamily="34" charset="-120"/>
              </a:rPr>
              <a:t>Waarom deze website?</a:t>
            </a:r>
            <a:endParaRPr lang="en-US" sz="2800" dirty="0"/>
          </a:p>
        </p:txBody>
      </p:sp>
      <p:sp>
        <p:nvSpPr>
          <p:cNvPr id="4" name="Text 2"/>
          <p:cNvSpPr/>
          <p:nvPr/>
        </p:nvSpPr>
        <p:spPr>
          <a:xfrm>
            <a:off x="457200" y="1234440"/>
            <a:ext cx="8229600" cy="868680"/>
          </a:xfrm>
          <a:prstGeom prst="rect">
            <a:avLst/>
          </a:prstGeom>
          <a:noFill/>
          <a:ln/>
        </p:spPr>
        <p:txBody>
          <a:bodyPr wrap="square" rtlCol="0" anchor="ctr"/>
          <a:lstStyle/>
          <a:p>
            <a:pPr indent="0" marL="0">
              <a:buNone/>
            </a:pPr>
            <a:r>
              <a:rPr lang="en-US" sz="1400" dirty="0">
                <a:solidFill>
                  <a:srgbClr val="1E2430"/>
                </a:solidFill>
                <a:latin typeface="Arial" pitchFamily="34" charset="0"/>
                <a:ea typeface="Arial" pitchFamily="34" charset="-122"/>
                <a:cs typeface="Arial" pitchFamily="34" charset="-120"/>
              </a:rPr>
              <a:t>In april 2026 gingen studenten Mediavormgeving, Content Creatie en Webdevelopment vijf dagen naar Berlijn. Er is veel beeldmateriaal en beleving, maar geen centrale plek waar toekomstige studenten dit kunnen terugvinden. Dat lossen wij op met een travel blog met CMS.</a:t>
            </a:r>
            <a:endParaRPr lang="en-US" sz="1400" dirty="0"/>
          </a:p>
        </p:txBody>
      </p:sp>
      <p:sp>
        <p:nvSpPr>
          <p:cNvPr id="5" name="Shape 3"/>
          <p:cNvSpPr/>
          <p:nvPr/>
        </p:nvSpPr>
        <p:spPr>
          <a:xfrm>
            <a:off x="457200" y="2286000"/>
            <a:ext cx="2679192" cy="2194560"/>
          </a:xfrm>
          <a:prstGeom prst="roundRect">
            <a:avLst>
              <a:gd name="adj" fmla="val 3333"/>
            </a:avLst>
          </a:prstGeom>
          <a:solidFill>
            <a:srgbClr val="CFE0E8"/>
          </a:solidFill>
          <a:ln/>
          <a:effectLst>
            <a:outerShdw sx="100000" sy="100000" kx="0" ky="0" algn="bl" rotWithShape="0" blurRad="101600" dist="25400" dir="8100000">
              <a:srgbClr val="2B4C8C">
                <a:alpha val="18000"/>
              </a:srgbClr>
            </a:outerShdw>
          </a:effectLst>
        </p:spPr>
      </p:sp>
      <p:sp>
        <p:nvSpPr>
          <p:cNvPr id="6" name="Text 4"/>
          <p:cNvSpPr/>
          <p:nvPr/>
        </p:nvSpPr>
        <p:spPr>
          <a:xfrm>
            <a:off x="621792" y="2423160"/>
            <a:ext cx="2350008" cy="365760"/>
          </a:xfrm>
          <a:prstGeom prst="rect">
            <a:avLst/>
          </a:prstGeom>
          <a:noFill/>
          <a:ln/>
        </p:spPr>
        <p:txBody>
          <a:bodyPr wrap="square" rtlCol="0" anchor="ctr"/>
          <a:lstStyle/>
          <a:p>
            <a:pPr indent="0" marL="0">
              <a:buNone/>
            </a:pPr>
            <a:r>
              <a:rPr lang="en-US" sz="1500" dirty="0">
                <a:solidFill>
                  <a:srgbClr val="2B4C8C"/>
                </a:solidFill>
                <a:latin typeface="Arial Black" pitchFamily="34" charset="0"/>
                <a:ea typeface="Arial Black" pitchFamily="34" charset="-122"/>
                <a:cs typeface="Arial Black" pitchFamily="34" charset="-120"/>
              </a:rPr>
              <a:t>VASTLEGGEN</a:t>
            </a:r>
            <a:endParaRPr lang="en-US" sz="1500" dirty="0"/>
          </a:p>
        </p:txBody>
      </p:sp>
      <p:sp>
        <p:nvSpPr>
          <p:cNvPr id="7" name="Text 5"/>
          <p:cNvSpPr/>
          <p:nvPr/>
        </p:nvSpPr>
        <p:spPr>
          <a:xfrm>
            <a:off x="621792" y="2788920"/>
            <a:ext cx="2350008" cy="1554480"/>
          </a:xfrm>
          <a:prstGeom prst="rect">
            <a:avLst/>
          </a:prstGeom>
          <a:noFill/>
          <a:ln/>
        </p:spPr>
        <p:txBody>
          <a:bodyPr wrap="square" rtlCol="0" anchor="t"/>
          <a:lstStyle/>
          <a:p>
            <a:pPr indent="0" marL="0">
              <a:buNone/>
            </a:pPr>
            <a:r>
              <a:rPr lang="en-US" sz="1150" dirty="0">
                <a:solidFill>
                  <a:srgbClr val="4A5160"/>
                </a:solidFill>
                <a:latin typeface="Arial" pitchFamily="34" charset="0"/>
                <a:ea typeface="Arial" pitchFamily="34" charset="-122"/>
                <a:cs typeface="Arial" pitchFamily="34" charset="-120"/>
              </a:rPr>
              <a:t>De studiereis digitaal documenteren voor de toekomst: dag-overzicht, foto's, video's en verhalen op één plek.</a:t>
            </a:r>
            <a:endParaRPr lang="en-US" sz="1150" dirty="0"/>
          </a:p>
        </p:txBody>
      </p:sp>
      <p:sp>
        <p:nvSpPr>
          <p:cNvPr id="8" name="Shape 6"/>
          <p:cNvSpPr/>
          <p:nvPr/>
        </p:nvSpPr>
        <p:spPr>
          <a:xfrm>
            <a:off x="3227832" y="2286000"/>
            <a:ext cx="2679192" cy="2194560"/>
          </a:xfrm>
          <a:prstGeom prst="roundRect">
            <a:avLst>
              <a:gd name="adj" fmla="val 3333"/>
            </a:avLst>
          </a:prstGeom>
          <a:solidFill>
            <a:srgbClr val="F2C744"/>
          </a:solidFill>
          <a:ln/>
          <a:effectLst>
            <a:outerShdw sx="100000" sy="100000" kx="0" ky="0" algn="bl" rotWithShape="0" blurRad="101600" dist="25400" dir="8100000">
              <a:srgbClr val="2B4C8C">
                <a:alpha val="18000"/>
              </a:srgbClr>
            </a:outerShdw>
          </a:effectLst>
        </p:spPr>
      </p:sp>
      <p:sp>
        <p:nvSpPr>
          <p:cNvPr id="9" name="Text 7"/>
          <p:cNvSpPr/>
          <p:nvPr/>
        </p:nvSpPr>
        <p:spPr>
          <a:xfrm>
            <a:off x="3392424" y="2423160"/>
            <a:ext cx="2350008" cy="365760"/>
          </a:xfrm>
          <a:prstGeom prst="rect">
            <a:avLst/>
          </a:prstGeom>
          <a:noFill/>
          <a:ln/>
        </p:spPr>
        <p:txBody>
          <a:bodyPr wrap="square" rtlCol="0" anchor="ctr"/>
          <a:lstStyle/>
          <a:p>
            <a:pPr indent="0" marL="0">
              <a:buNone/>
            </a:pPr>
            <a:r>
              <a:rPr lang="en-US" sz="1500" dirty="0">
                <a:solidFill>
                  <a:srgbClr val="2B4C8C"/>
                </a:solidFill>
                <a:latin typeface="Arial Black" pitchFamily="34" charset="0"/>
                <a:ea typeface="Arial Black" pitchFamily="34" charset="-122"/>
                <a:cs typeface="Arial Black" pitchFamily="34" charset="-120"/>
              </a:rPr>
              <a:t>INSPIREREN</a:t>
            </a:r>
            <a:endParaRPr lang="en-US" sz="1500" dirty="0"/>
          </a:p>
        </p:txBody>
      </p:sp>
      <p:sp>
        <p:nvSpPr>
          <p:cNvPr id="10" name="Text 8"/>
          <p:cNvSpPr/>
          <p:nvPr/>
        </p:nvSpPr>
        <p:spPr>
          <a:xfrm>
            <a:off x="3392424" y="2788920"/>
            <a:ext cx="2350008" cy="1554480"/>
          </a:xfrm>
          <a:prstGeom prst="rect">
            <a:avLst/>
          </a:prstGeom>
          <a:noFill/>
          <a:ln/>
        </p:spPr>
        <p:txBody>
          <a:bodyPr wrap="square" rtlCol="0" anchor="t"/>
          <a:lstStyle/>
          <a:p>
            <a:pPr indent="0" marL="0">
              <a:buNone/>
            </a:pPr>
            <a:r>
              <a:rPr lang="en-US" sz="1150" dirty="0">
                <a:solidFill>
                  <a:srgbClr val="1E2430"/>
                </a:solidFill>
                <a:latin typeface="Arial" pitchFamily="34" charset="0"/>
                <a:ea typeface="Arial" pitchFamily="34" charset="-122"/>
                <a:cs typeface="Arial" pitchFamily="34" charset="-120"/>
              </a:rPr>
              <a:t>Toekomstige studenten informeren over de reis, de locaties en de ervaringen, zodat zij weten wat hen te wachten staat.</a:t>
            </a:r>
            <a:endParaRPr lang="en-US" sz="1150" dirty="0"/>
          </a:p>
        </p:txBody>
      </p:sp>
      <p:sp>
        <p:nvSpPr>
          <p:cNvPr id="11" name="Shape 9"/>
          <p:cNvSpPr/>
          <p:nvPr/>
        </p:nvSpPr>
        <p:spPr>
          <a:xfrm>
            <a:off x="5998464" y="2286000"/>
            <a:ext cx="2688336" cy="2194560"/>
          </a:xfrm>
          <a:prstGeom prst="roundRect">
            <a:avLst>
              <a:gd name="adj" fmla="val 3333"/>
            </a:avLst>
          </a:prstGeom>
          <a:solidFill>
            <a:srgbClr val="2B4C8C"/>
          </a:solidFill>
          <a:ln/>
          <a:effectLst>
            <a:outerShdw sx="100000" sy="100000" kx="0" ky="0" algn="bl" rotWithShape="0" blurRad="101600" dist="25400" dir="8100000">
              <a:srgbClr val="2B4C8C">
                <a:alpha val="18000"/>
              </a:srgbClr>
            </a:outerShdw>
          </a:effectLst>
        </p:spPr>
      </p:sp>
      <p:sp>
        <p:nvSpPr>
          <p:cNvPr id="12" name="Text 10"/>
          <p:cNvSpPr/>
          <p:nvPr/>
        </p:nvSpPr>
        <p:spPr>
          <a:xfrm>
            <a:off x="6163056" y="2423160"/>
            <a:ext cx="2359152" cy="365760"/>
          </a:xfrm>
          <a:prstGeom prst="rect">
            <a:avLst/>
          </a:prstGeom>
          <a:noFill/>
          <a:ln/>
        </p:spPr>
        <p:txBody>
          <a:bodyPr wrap="square" rtlCol="0" anchor="ctr"/>
          <a:lstStyle/>
          <a:p>
            <a:pPr indent="0" marL="0">
              <a:buNone/>
            </a:pPr>
            <a:r>
              <a:rPr lang="en-US" sz="1500" dirty="0">
                <a:solidFill>
                  <a:srgbClr val="FFFFFF"/>
                </a:solidFill>
                <a:latin typeface="Arial Black" pitchFamily="34" charset="0"/>
                <a:ea typeface="Arial Black" pitchFamily="34" charset="-122"/>
                <a:cs typeface="Arial Black" pitchFamily="34" charset="-120"/>
              </a:rPr>
              <a:t>DEMONSTREREN</a:t>
            </a:r>
            <a:endParaRPr lang="en-US" sz="1500" dirty="0"/>
          </a:p>
        </p:txBody>
      </p:sp>
      <p:sp>
        <p:nvSpPr>
          <p:cNvPr id="13" name="Text 11"/>
          <p:cNvSpPr/>
          <p:nvPr/>
        </p:nvSpPr>
        <p:spPr>
          <a:xfrm>
            <a:off x="6163056" y="2788920"/>
            <a:ext cx="2359152" cy="1554480"/>
          </a:xfrm>
          <a:prstGeom prst="rect">
            <a:avLst/>
          </a:prstGeom>
          <a:noFill/>
          <a:ln/>
        </p:spPr>
        <p:txBody>
          <a:bodyPr wrap="square" rtlCol="0" anchor="t"/>
          <a:lstStyle/>
          <a:p>
            <a:pPr indent="0" marL="0">
              <a:buNone/>
            </a:pPr>
            <a:r>
              <a:rPr lang="en-US" sz="1150" dirty="0">
                <a:solidFill>
                  <a:srgbClr val="E8EEF8"/>
                </a:solidFill>
                <a:latin typeface="Arial" pitchFamily="34" charset="0"/>
                <a:ea typeface="Arial" pitchFamily="34" charset="-122"/>
                <a:cs typeface="Arial" pitchFamily="34" charset="-120"/>
              </a:rPr>
              <a:t>Bewijzen dat een moderne, CMS-gedreven website technisch en visueel haalbaar is — met een werkende Proof of Concept.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200" b="1" spc="300" kern="0" dirty="0">
                <a:solidFill>
                  <a:srgbClr val="E8703A"/>
                </a:solidFill>
                <a:latin typeface="Arial" pitchFamily="34" charset="0"/>
                <a:ea typeface="Arial" pitchFamily="34" charset="-122"/>
                <a:cs typeface="Arial" pitchFamily="34" charset="-120"/>
              </a:rPr>
              <a:t>DOELGROEP</a:t>
            </a:r>
            <a:endParaRPr lang="en-US" sz="1200" dirty="0"/>
          </a:p>
        </p:txBody>
      </p:sp>
      <p:sp>
        <p:nvSpPr>
          <p:cNvPr id="3" name="Text 1"/>
          <p:cNvSpPr/>
          <p:nvPr/>
        </p:nvSpPr>
        <p:spPr>
          <a:xfrm>
            <a:off x="457200" y="548640"/>
            <a:ext cx="8229600" cy="548640"/>
          </a:xfrm>
          <a:prstGeom prst="rect">
            <a:avLst/>
          </a:prstGeom>
          <a:noFill/>
          <a:ln/>
        </p:spPr>
        <p:txBody>
          <a:bodyPr wrap="square" rtlCol="0" anchor="ctr"/>
          <a:lstStyle/>
          <a:p>
            <a:pPr indent="0" marL="0">
              <a:buNone/>
            </a:pPr>
            <a:r>
              <a:rPr lang="en-US" sz="2800" dirty="0">
                <a:solidFill>
                  <a:srgbClr val="2B4C8C"/>
                </a:solidFill>
                <a:latin typeface="Arial Black" pitchFamily="34" charset="0"/>
                <a:ea typeface="Arial Black" pitchFamily="34" charset="-122"/>
                <a:cs typeface="Arial Black" pitchFamily="34" charset="-120"/>
              </a:rPr>
              <a:t>Voor wie maken we dit?</a:t>
            </a:r>
            <a:endParaRPr lang="en-US" sz="2800" dirty="0"/>
          </a:p>
        </p:txBody>
      </p:sp>
      <p:sp>
        <p:nvSpPr>
          <p:cNvPr id="4" name="Shape 2"/>
          <p:cNvSpPr/>
          <p:nvPr/>
        </p:nvSpPr>
        <p:spPr>
          <a:xfrm>
            <a:off x="457200" y="1325880"/>
            <a:ext cx="4023360" cy="3200400"/>
          </a:xfrm>
          <a:prstGeom prst="roundRect">
            <a:avLst>
              <a:gd name="adj" fmla="val 2286"/>
            </a:avLst>
          </a:prstGeom>
          <a:solidFill>
            <a:srgbClr val="F1F0EC"/>
          </a:solidFill>
          <a:ln/>
          <a:effectLst>
            <a:outerShdw sx="100000" sy="100000" kx="0" ky="0" algn="bl" rotWithShape="0" blurRad="101600" dist="25400" dir="8100000">
              <a:srgbClr val="2B4C8C">
                <a:alpha val="18000"/>
              </a:srgbClr>
            </a:outerShdw>
          </a:effectLst>
        </p:spPr>
      </p:sp>
      <p:sp>
        <p:nvSpPr>
          <p:cNvPr id="5" name="Text 3"/>
          <p:cNvSpPr/>
          <p:nvPr/>
        </p:nvSpPr>
        <p:spPr>
          <a:xfrm>
            <a:off x="621792" y="1463040"/>
            <a:ext cx="3694176" cy="365760"/>
          </a:xfrm>
          <a:prstGeom prst="rect">
            <a:avLst/>
          </a:prstGeom>
          <a:noFill/>
          <a:ln/>
        </p:spPr>
        <p:txBody>
          <a:bodyPr wrap="square" rtlCol="0" anchor="ctr"/>
          <a:lstStyle/>
          <a:p>
            <a:pPr indent="0" marL="0">
              <a:buNone/>
            </a:pPr>
            <a:r>
              <a:rPr lang="en-US" sz="1500" dirty="0">
                <a:solidFill>
                  <a:srgbClr val="2B4C8C"/>
                </a:solidFill>
                <a:latin typeface="Arial Black" pitchFamily="34" charset="0"/>
                <a:ea typeface="Arial Black" pitchFamily="34" charset="-122"/>
                <a:cs typeface="Arial Black" pitchFamily="34" charset="-120"/>
              </a:rPr>
              <a:t>PRIMAIR — TOEKOMSTIGE STUDENTEN</a:t>
            </a:r>
            <a:endParaRPr lang="en-US" sz="1500" dirty="0"/>
          </a:p>
        </p:txBody>
      </p:sp>
      <p:sp>
        <p:nvSpPr>
          <p:cNvPr id="6" name="Text 4"/>
          <p:cNvSpPr/>
          <p:nvPr/>
        </p:nvSpPr>
        <p:spPr>
          <a:xfrm>
            <a:off x="621792" y="1828800"/>
            <a:ext cx="3694176" cy="2560320"/>
          </a:xfrm>
          <a:prstGeom prst="rect">
            <a:avLst/>
          </a:prstGeom>
          <a:noFill/>
          <a:ln/>
        </p:spPr>
        <p:txBody>
          <a:bodyPr wrap="square" rtlCol="0" anchor="t"/>
          <a:lstStyle/>
          <a:p>
            <a:pPr indent="0" marL="0">
              <a:buNone/>
            </a:pPr>
            <a:endParaRPr lang="en-US" sz="1150" dirty="0"/>
          </a:p>
        </p:txBody>
      </p:sp>
      <p:sp>
        <p:nvSpPr>
          <p:cNvPr id="7" name="Text 5"/>
          <p:cNvSpPr/>
          <p:nvPr/>
        </p:nvSpPr>
        <p:spPr>
          <a:xfrm>
            <a:off x="640080" y="1874520"/>
            <a:ext cx="3657600" cy="2468880"/>
          </a:xfrm>
          <a:prstGeom prst="rect">
            <a:avLst/>
          </a:prstGeom>
          <a:noFill/>
          <a:ln/>
        </p:spPr>
        <p:txBody>
          <a:bodyPr wrap="square" rtlCol="0" anchor="t"/>
          <a:lstStyle/>
          <a:p>
            <a:pPr marL="342900" indent="-342900">
              <a:spcAft>
                <a:spcPts val="800"/>
              </a:spcAft>
              <a:buSzPct val="100000"/>
              <a:buChar char="•"/>
            </a:pPr>
            <a:r>
              <a:rPr lang="en-US" sz="1250" dirty="0">
                <a:solidFill>
                  <a:srgbClr val="1E2430"/>
                </a:solidFill>
                <a:latin typeface="Arial" pitchFamily="34" charset="0"/>
                <a:ea typeface="Arial" pitchFamily="34" charset="-122"/>
                <a:cs typeface="Arial" pitchFamily="34" charset="-120"/>
              </a:rPr>
              <a:t>Studenten Mediavormgeving, Content Creatie en Webdevelopment die de reis overwegen</a:t>
            </a:r>
            <a:endParaRPr lang="en-US" sz="1250" dirty="0"/>
          </a:p>
          <a:p>
            <a:pPr marL="342900" indent="-342900">
              <a:spcAft>
                <a:spcPts val="800"/>
              </a:spcAft>
              <a:buSzPct val="100000"/>
              <a:buChar char="•"/>
            </a:pPr>
            <a:r>
              <a:rPr lang="en-US" sz="1250" dirty="0">
                <a:solidFill>
                  <a:srgbClr val="1E2430"/>
                </a:solidFill>
                <a:latin typeface="Arial" pitchFamily="34" charset="0"/>
                <a:ea typeface="Arial" pitchFamily="34" charset="-122"/>
                <a:cs typeface="Arial" pitchFamily="34" charset="-120"/>
              </a:rPr>
              <a:t>Zoeken praktische info: wat ga je doen, waar slaap je, wat kost het qua tijd en energie</a:t>
            </a:r>
            <a:endParaRPr lang="en-US" sz="1250" dirty="0"/>
          </a:p>
          <a:p>
            <a:pPr marL="342900" indent="-342900">
              <a:spcAft>
                <a:spcPts val="800"/>
              </a:spcAft>
              <a:buSzPct val="100000"/>
              <a:buChar char="•"/>
            </a:pPr>
            <a:r>
              <a:rPr lang="en-US" sz="1250" dirty="0">
                <a:solidFill>
                  <a:srgbClr val="1E2430"/>
                </a:solidFill>
                <a:latin typeface="Arial" pitchFamily="34" charset="0"/>
                <a:ea typeface="Arial" pitchFamily="34" charset="-122"/>
                <a:cs typeface="Arial" pitchFamily="34" charset="-120"/>
              </a:rPr>
              <a:t>Willen sfeer proeven via foto's, video's en de Instagram-feed</a:t>
            </a:r>
            <a:endParaRPr lang="en-US" sz="1250" dirty="0"/>
          </a:p>
        </p:txBody>
      </p:sp>
      <p:sp>
        <p:nvSpPr>
          <p:cNvPr id="8" name="Shape 6"/>
          <p:cNvSpPr/>
          <p:nvPr/>
        </p:nvSpPr>
        <p:spPr>
          <a:xfrm>
            <a:off x="4663440" y="1325880"/>
            <a:ext cx="4023360" cy="3200400"/>
          </a:xfrm>
          <a:prstGeom prst="roundRect">
            <a:avLst>
              <a:gd name="adj" fmla="val 2286"/>
            </a:avLst>
          </a:prstGeom>
          <a:solidFill>
            <a:srgbClr val="CFE0E8"/>
          </a:solidFill>
          <a:ln/>
          <a:effectLst>
            <a:outerShdw sx="100000" sy="100000" kx="0" ky="0" algn="bl" rotWithShape="0" blurRad="101600" dist="25400" dir="8100000">
              <a:srgbClr val="2B4C8C">
                <a:alpha val="18000"/>
              </a:srgbClr>
            </a:outerShdw>
          </a:effectLst>
        </p:spPr>
      </p:sp>
      <p:sp>
        <p:nvSpPr>
          <p:cNvPr id="9" name="Text 7"/>
          <p:cNvSpPr/>
          <p:nvPr/>
        </p:nvSpPr>
        <p:spPr>
          <a:xfrm>
            <a:off x="4828032" y="1463040"/>
            <a:ext cx="3694176" cy="365760"/>
          </a:xfrm>
          <a:prstGeom prst="rect">
            <a:avLst/>
          </a:prstGeom>
          <a:noFill/>
          <a:ln/>
        </p:spPr>
        <p:txBody>
          <a:bodyPr wrap="square" rtlCol="0" anchor="ctr"/>
          <a:lstStyle/>
          <a:p>
            <a:pPr indent="0" marL="0">
              <a:buNone/>
            </a:pPr>
            <a:r>
              <a:rPr lang="en-US" sz="1500" dirty="0">
                <a:solidFill>
                  <a:srgbClr val="2B4C8C"/>
                </a:solidFill>
                <a:latin typeface="Arial Black" pitchFamily="34" charset="0"/>
                <a:ea typeface="Arial Black" pitchFamily="34" charset="-122"/>
                <a:cs typeface="Arial Black" pitchFamily="34" charset="-120"/>
              </a:rPr>
              <a:t>SECUNDAIR — DOCENTEN &amp; ORGANISATIE</a:t>
            </a:r>
            <a:endParaRPr lang="en-US" sz="1500" dirty="0"/>
          </a:p>
        </p:txBody>
      </p:sp>
      <p:sp>
        <p:nvSpPr>
          <p:cNvPr id="10" name="Text 8"/>
          <p:cNvSpPr/>
          <p:nvPr/>
        </p:nvSpPr>
        <p:spPr>
          <a:xfrm>
            <a:off x="4828032" y="1828800"/>
            <a:ext cx="3694176" cy="2560320"/>
          </a:xfrm>
          <a:prstGeom prst="rect">
            <a:avLst/>
          </a:prstGeom>
          <a:noFill/>
          <a:ln/>
        </p:spPr>
        <p:txBody>
          <a:bodyPr wrap="square" rtlCol="0" anchor="t"/>
          <a:lstStyle/>
          <a:p>
            <a:pPr indent="0" marL="0">
              <a:buNone/>
            </a:pPr>
            <a:endParaRPr lang="en-US" sz="1150" dirty="0"/>
          </a:p>
        </p:txBody>
      </p:sp>
      <p:sp>
        <p:nvSpPr>
          <p:cNvPr id="11" name="Text 9"/>
          <p:cNvSpPr/>
          <p:nvPr/>
        </p:nvSpPr>
        <p:spPr>
          <a:xfrm>
            <a:off x="4846320" y="1874520"/>
            <a:ext cx="3657600" cy="2468880"/>
          </a:xfrm>
          <a:prstGeom prst="rect">
            <a:avLst/>
          </a:prstGeom>
          <a:noFill/>
          <a:ln/>
        </p:spPr>
        <p:txBody>
          <a:bodyPr wrap="square" rtlCol="0" anchor="t"/>
          <a:lstStyle/>
          <a:p>
            <a:pPr marL="342900" indent="-342900">
              <a:spcAft>
                <a:spcPts val="800"/>
              </a:spcAft>
              <a:buSzPct val="100000"/>
              <a:buChar char="•"/>
            </a:pPr>
            <a:r>
              <a:rPr lang="en-US" sz="1250" dirty="0">
                <a:solidFill>
                  <a:srgbClr val="1E2430"/>
                </a:solidFill>
                <a:latin typeface="Arial" pitchFamily="34" charset="0"/>
                <a:ea typeface="Arial" pitchFamily="34" charset="-122"/>
                <a:cs typeface="Arial" pitchFamily="34" charset="-120"/>
              </a:rPr>
              <a:t>Gebruiken de site om de reis te promoten bij nieuwe lichtingen</a:t>
            </a:r>
            <a:endParaRPr lang="en-US" sz="1250" dirty="0"/>
          </a:p>
          <a:p>
            <a:pPr marL="342900" indent="-342900">
              <a:spcAft>
                <a:spcPts val="800"/>
              </a:spcAft>
              <a:buSzPct val="100000"/>
              <a:buChar char="•"/>
            </a:pPr>
            <a:r>
              <a:rPr lang="en-US" sz="1250" dirty="0">
                <a:solidFill>
                  <a:srgbClr val="1E2430"/>
                </a:solidFill>
                <a:latin typeface="Arial" pitchFamily="34" charset="0"/>
                <a:ea typeface="Arial" pitchFamily="34" charset="-122"/>
                <a:cs typeface="Arial" pitchFamily="34" charset="-120"/>
              </a:rPr>
              <a:t>Beheren de content via het CMS (admin-rol): posts, locaties en media</a:t>
            </a:r>
            <a:endParaRPr lang="en-US" sz="1250" dirty="0"/>
          </a:p>
          <a:p>
            <a:pPr marL="342900" indent="-342900">
              <a:spcAft>
                <a:spcPts val="800"/>
              </a:spcAft>
              <a:buSzPct val="100000"/>
              <a:buChar char="•"/>
            </a:pPr>
            <a:r>
              <a:rPr lang="en-US" sz="1250" dirty="0">
                <a:solidFill>
                  <a:srgbClr val="1E2430"/>
                </a:solidFill>
                <a:latin typeface="Arial" pitchFamily="34" charset="0"/>
                <a:ea typeface="Arial" pitchFamily="34" charset="-122"/>
                <a:cs typeface="Arial" pitchFamily="34" charset="-120"/>
              </a:rPr>
              <a:t>Hoeven géén code te kennen — alles via een beheerinterface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200" b="1" spc="300" kern="0" dirty="0">
                <a:solidFill>
                  <a:srgbClr val="E8703A"/>
                </a:solidFill>
                <a:latin typeface="Arial" pitchFamily="34" charset="0"/>
                <a:ea typeface="Arial" pitchFamily="34" charset="-122"/>
                <a:cs typeface="Arial" pitchFamily="34" charset="-120"/>
              </a:rPr>
              <a:t>CONCEPT &amp; STRUCTUUR</a:t>
            </a:r>
            <a:endParaRPr lang="en-US" sz="1200" dirty="0"/>
          </a:p>
        </p:txBody>
      </p:sp>
      <p:sp>
        <p:nvSpPr>
          <p:cNvPr id="3" name="Text 1"/>
          <p:cNvSpPr/>
          <p:nvPr/>
        </p:nvSpPr>
        <p:spPr>
          <a:xfrm>
            <a:off x="457200" y="548640"/>
            <a:ext cx="8229600" cy="548640"/>
          </a:xfrm>
          <a:prstGeom prst="rect">
            <a:avLst/>
          </a:prstGeom>
          <a:noFill/>
          <a:ln/>
        </p:spPr>
        <p:txBody>
          <a:bodyPr wrap="square" rtlCol="0" anchor="ctr"/>
          <a:lstStyle/>
          <a:p>
            <a:pPr indent="0" marL="0">
              <a:buNone/>
            </a:pPr>
            <a:r>
              <a:rPr lang="en-US" sz="2800" dirty="0">
                <a:solidFill>
                  <a:srgbClr val="2B4C8C"/>
                </a:solidFill>
                <a:latin typeface="Arial Black" pitchFamily="34" charset="0"/>
                <a:ea typeface="Arial Black" pitchFamily="34" charset="-122"/>
                <a:cs typeface="Arial Black" pitchFamily="34" charset="-120"/>
              </a:rPr>
              <a:t>Sitemap in één oogopslag</a:t>
            </a:r>
            <a:endParaRPr lang="en-US" sz="2800" dirty="0"/>
          </a:p>
        </p:txBody>
      </p:sp>
      <p:sp>
        <p:nvSpPr>
          <p:cNvPr id="4" name="Shape 2"/>
          <p:cNvSpPr/>
          <p:nvPr/>
        </p:nvSpPr>
        <p:spPr>
          <a:xfrm>
            <a:off x="3749040" y="1325880"/>
            <a:ext cx="1645920" cy="502920"/>
          </a:xfrm>
          <a:prstGeom prst="roundRect">
            <a:avLst>
              <a:gd name="adj" fmla="val 14545"/>
            </a:avLst>
          </a:prstGeom>
          <a:solidFill>
            <a:srgbClr val="2B4C8C"/>
          </a:solidFill>
          <a:ln/>
        </p:spPr>
      </p:sp>
      <p:sp>
        <p:nvSpPr>
          <p:cNvPr id="5" name="Text 3"/>
          <p:cNvSpPr/>
          <p:nvPr/>
        </p:nvSpPr>
        <p:spPr>
          <a:xfrm>
            <a:off x="3749040" y="1325880"/>
            <a:ext cx="1645920" cy="502920"/>
          </a:xfrm>
          <a:prstGeom prst="rect">
            <a:avLst/>
          </a:prstGeom>
          <a:no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HOME</a:t>
            </a:r>
            <a:endParaRPr lang="en-US" sz="1300" dirty="0"/>
          </a:p>
        </p:txBody>
      </p:sp>
      <p:sp>
        <p:nvSpPr>
          <p:cNvPr id="6" name="Shape 4"/>
          <p:cNvSpPr/>
          <p:nvPr/>
        </p:nvSpPr>
        <p:spPr>
          <a:xfrm>
            <a:off x="4572000" y="1828800"/>
            <a:ext cx="0" cy="201168"/>
          </a:xfrm>
          <a:prstGeom prst="line">
            <a:avLst/>
          </a:prstGeom>
          <a:noFill/>
          <a:ln w="19050">
            <a:solidFill>
              <a:srgbClr val="B9C4D6"/>
            </a:solidFill>
            <a:prstDash val="solid"/>
          </a:ln>
        </p:spPr>
      </p:sp>
      <p:sp>
        <p:nvSpPr>
          <p:cNvPr id="7" name="Shape 5"/>
          <p:cNvSpPr/>
          <p:nvPr/>
        </p:nvSpPr>
        <p:spPr>
          <a:xfrm>
            <a:off x="1234440" y="2029968"/>
            <a:ext cx="6803136" cy="0"/>
          </a:xfrm>
          <a:prstGeom prst="line">
            <a:avLst/>
          </a:prstGeom>
          <a:noFill/>
          <a:ln w="19050">
            <a:solidFill>
              <a:srgbClr val="B9C4D6"/>
            </a:solidFill>
            <a:prstDash val="solid"/>
          </a:ln>
        </p:spPr>
      </p:sp>
      <p:sp>
        <p:nvSpPr>
          <p:cNvPr id="8" name="Shape 6"/>
          <p:cNvSpPr/>
          <p:nvPr/>
        </p:nvSpPr>
        <p:spPr>
          <a:xfrm>
            <a:off x="1234440" y="2029968"/>
            <a:ext cx="0" cy="210312"/>
          </a:xfrm>
          <a:prstGeom prst="line">
            <a:avLst/>
          </a:prstGeom>
          <a:noFill/>
          <a:ln w="19050">
            <a:solidFill>
              <a:srgbClr val="B9C4D6"/>
            </a:solidFill>
            <a:prstDash val="solid"/>
          </a:ln>
        </p:spPr>
      </p:sp>
      <p:sp>
        <p:nvSpPr>
          <p:cNvPr id="9" name="Shape 7"/>
          <p:cNvSpPr/>
          <p:nvPr/>
        </p:nvSpPr>
        <p:spPr>
          <a:xfrm>
            <a:off x="457200" y="2240280"/>
            <a:ext cx="1554480" cy="777240"/>
          </a:xfrm>
          <a:prstGeom prst="roundRect">
            <a:avLst>
              <a:gd name="adj" fmla="val 7059"/>
            </a:avLst>
          </a:prstGeom>
          <a:solidFill>
            <a:srgbClr val="CFE0E8"/>
          </a:solidFill>
          <a:ln/>
        </p:spPr>
      </p:sp>
      <p:sp>
        <p:nvSpPr>
          <p:cNvPr id="10" name="Text 8"/>
          <p:cNvSpPr/>
          <p:nvPr/>
        </p:nvSpPr>
        <p:spPr>
          <a:xfrm>
            <a:off x="457200" y="2286000"/>
            <a:ext cx="1554480" cy="365760"/>
          </a:xfrm>
          <a:prstGeom prst="rect">
            <a:avLst/>
          </a:prstGeom>
          <a:noFill/>
          <a:ln/>
        </p:spPr>
        <p:txBody>
          <a:bodyPr wrap="square" rtlCol="0" anchor="ctr"/>
          <a:lstStyle/>
          <a:p>
            <a:pPr algn="ctr" indent="0" marL="0">
              <a:buNone/>
            </a:pPr>
            <a:r>
              <a:rPr lang="en-US" sz="1000" dirty="0">
                <a:solidFill>
                  <a:srgbClr val="2B4C8C"/>
                </a:solidFill>
                <a:latin typeface="Arial Black" pitchFamily="34" charset="0"/>
                <a:ea typeface="Arial Black" pitchFamily="34" charset="-122"/>
                <a:cs typeface="Arial Black" pitchFamily="34" charset="-120"/>
              </a:rPr>
              <a:t>DAY BY DAY</a:t>
            </a:r>
            <a:endParaRPr lang="en-US" sz="1000" dirty="0"/>
          </a:p>
        </p:txBody>
      </p:sp>
      <p:sp>
        <p:nvSpPr>
          <p:cNvPr id="11" name="Text 9"/>
          <p:cNvSpPr/>
          <p:nvPr/>
        </p:nvSpPr>
        <p:spPr>
          <a:xfrm>
            <a:off x="457200" y="2633472"/>
            <a:ext cx="1554480" cy="347472"/>
          </a:xfrm>
          <a:prstGeom prst="rect">
            <a:avLst/>
          </a:prstGeom>
          <a:noFill/>
          <a:ln/>
        </p:spPr>
        <p:txBody>
          <a:bodyPr wrap="square" rtlCol="0" anchor="ctr"/>
          <a:lstStyle/>
          <a:p>
            <a:pPr algn="ctr" indent="0" marL="0">
              <a:buNone/>
            </a:pPr>
            <a:r>
              <a:rPr lang="en-US" sz="950" dirty="0">
                <a:solidFill>
                  <a:srgbClr val="4A5160"/>
                </a:solidFill>
                <a:latin typeface="Arial" pitchFamily="34" charset="0"/>
                <a:ea typeface="Arial" pitchFamily="34" charset="-122"/>
                <a:cs typeface="Arial" pitchFamily="34" charset="-120"/>
              </a:rPr>
              <a:t>Dag 1 t/m 5</a:t>
            </a:r>
            <a:endParaRPr lang="en-US" sz="950" dirty="0"/>
          </a:p>
        </p:txBody>
      </p:sp>
      <p:sp>
        <p:nvSpPr>
          <p:cNvPr id="12" name="Shape 10"/>
          <p:cNvSpPr/>
          <p:nvPr/>
        </p:nvSpPr>
        <p:spPr>
          <a:xfrm>
            <a:off x="2935224" y="2029968"/>
            <a:ext cx="0" cy="210312"/>
          </a:xfrm>
          <a:prstGeom prst="line">
            <a:avLst/>
          </a:prstGeom>
          <a:noFill/>
          <a:ln w="19050">
            <a:solidFill>
              <a:srgbClr val="B9C4D6"/>
            </a:solidFill>
            <a:prstDash val="solid"/>
          </a:ln>
        </p:spPr>
      </p:sp>
      <p:sp>
        <p:nvSpPr>
          <p:cNvPr id="13" name="Shape 11"/>
          <p:cNvSpPr/>
          <p:nvPr/>
        </p:nvSpPr>
        <p:spPr>
          <a:xfrm>
            <a:off x="2157984" y="2240280"/>
            <a:ext cx="1554480" cy="777240"/>
          </a:xfrm>
          <a:prstGeom prst="roundRect">
            <a:avLst>
              <a:gd name="adj" fmla="val 7059"/>
            </a:avLst>
          </a:prstGeom>
          <a:solidFill>
            <a:srgbClr val="CFE0E8"/>
          </a:solidFill>
          <a:ln/>
        </p:spPr>
      </p:sp>
      <p:sp>
        <p:nvSpPr>
          <p:cNvPr id="14" name="Text 12"/>
          <p:cNvSpPr/>
          <p:nvPr/>
        </p:nvSpPr>
        <p:spPr>
          <a:xfrm>
            <a:off x="2157984" y="2286000"/>
            <a:ext cx="1554480" cy="365760"/>
          </a:xfrm>
          <a:prstGeom prst="rect">
            <a:avLst/>
          </a:prstGeom>
          <a:noFill/>
          <a:ln/>
        </p:spPr>
        <p:txBody>
          <a:bodyPr wrap="square" rtlCol="0" anchor="ctr"/>
          <a:lstStyle/>
          <a:p>
            <a:pPr algn="ctr" indent="0" marL="0">
              <a:buNone/>
            </a:pPr>
            <a:r>
              <a:rPr lang="en-US" sz="1000" dirty="0">
                <a:solidFill>
                  <a:srgbClr val="2B4C8C"/>
                </a:solidFill>
                <a:latin typeface="Arial Black" pitchFamily="34" charset="0"/>
                <a:ea typeface="Arial Black" pitchFamily="34" charset="-122"/>
                <a:cs typeface="Arial Black" pitchFamily="34" charset="-120"/>
              </a:rPr>
              <a:t>KAART</a:t>
            </a:r>
            <a:endParaRPr lang="en-US" sz="1000" dirty="0"/>
          </a:p>
        </p:txBody>
      </p:sp>
      <p:sp>
        <p:nvSpPr>
          <p:cNvPr id="15" name="Text 13"/>
          <p:cNvSpPr/>
          <p:nvPr/>
        </p:nvSpPr>
        <p:spPr>
          <a:xfrm>
            <a:off x="2157984" y="2633472"/>
            <a:ext cx="1554480" cy="347472"/>
          </a:xfrm>
          <a:prstGeom prst="rect">
            <a:avLst/>
          </a:prstGeom>
          <a:noFill/>
          <a:ln/>
        </p:spPr>
        <p:txBody>
          <a:bodyPr wrap="square" rtlCol="0" anchor="ctr"/>
          <a:lstStyle/>
          <a:p>
            <a:pPr algn="ctr" indent="0" marL="0">
              <a:buNone/>
            </a:pPr>
            <a:r>
              <a:rPr lang="en-US" sz="950" dirty="0">
                <a:solidFill>
                  <a:srgbClr val="4A5160"/>
                </a:solidFill>
                <a:latin typeface="Arial" pitchFamily="34" charset="0"/>
                <a:ea typeface="Arial" pitchFamily="34" charset="-122"/>
                <a:cs typeface="Arial" pitchFamily="34" charset="-120"/>
              </a:rPr>
              <a:t>Locaties + filters</a:t>
            </a:r>
            <a:endParaRPr lang="en-US" sz="950" dirty="0"/>
          </a:p>
        </p:txBody>
      </p:sp>
      <p:sp>
        <p:nvSpPr>
          <p:cNvPr id="16" name="Shape 14"/>
          <p:cNvSpPr/>
          <p:nvPr/>
        </p:nvSpPr>
        <p:spPr>
          <a:xfrm>
            <a:off x="4636008" y="2029968"/>
            <a:ext cx="0" cy="210312"/>
          </a:xfrm>
          <a:prstGeom prst="line">
            <a:avLst/>
          </a:prstGeom>
          <a:noFill/>
          <a:ln w="19050">
            <a:solidFill>
              <a:srgbClr val="B9C4D6"/>
            </a:solidFill>
            <a:prstDash val="solid"/>
          </a:ln>
        </p:spPr>
      </p:sp>
      <p:sp>
        <p:nvSpPr>
          <p:cNvPr id="17" name="Shape 15"/>
          <p:cNvSpPr/>
          <p:nvPr/>
        </p:nvSpPr>
        <p:spPr>
          <a:xfrm>
            <a:off x="3858768" y="2240280"/>
            <a:ext cx="1554480" cy="777240"/>
          </a:xfrm>
          <a:prstGeom prst="roundRect">
            <a:avLst>
              <a:gd name="adj" fmla="val 7059"/>
            </a:avLst>
          </a:prstGeom>
          <a:solidFill>
            <a:srgbClr val="CFE0E8"/>
          </a:solidFill>
          <a:ln/>
        </p:spPr>
      </p:sp>
      <p:sp>
        <p:nvSpPr>
          <p:cNvPr id="18" name="Text 16"/>
          <p:cNvSpPr/>
          <p:nvPr/>
        </p:nvSpPr>
        <p:spPr>
          <a:xfrm>
            <a:off x="3858768" y="2286000"/>
            <a:ext cx="1554480" cy="365760"/>
          </a:xfrm>
          <a:prstGeom prst="rect">
            <a:avLst/>
          </a:prstGeom>
          <a:noFill/>
          <a:ln/>
        </p:spPr>
        <p:txBody>
          <a:bodyPr wrap="square" rtlCol="0" anchor="ctr"/>
          <a:lstStyle/>
          <a:p>
            <a:pPr algn="ctr" indent="0" marL="0">
              <a:buNone/>
            </a:pPr>
            <a:r>
              <a:rPr lang="en-US" sz="1000" dirty="0">
                <a:solidFill>
                  <a:srgbClr val="2B4C8C"/>
                </a:solidFill>
                <a:latin typeface="Arial Black" pitchFamily="34" charset="0"/>
                <a:ea typeface="Arial Black" pitchFamily="34" charset="-122"/>
                <a:cs typeface="Arial Black" pitchFamily="34" charset="-120"/>
              </a:rPr>
              <a:t>BLOG / VERHALEN</a:t>
            </a:r>
            <a:endParaRPr lang="en-US" sz="1000" dirty="0"/>
          </a:p>
        </p:txBody>
      </p:sp>
      <p:sp>
        <p:nvSpPr>
          <p:cNvPr id="19" name="Text 17"/>
          <p:cNvSpPr/>
          <p:nvPr/>
        </p:nvSpPr>
        <p:spPr>
          <a:xfrm>
            <a:off x="3858768" y="2633472"/>
            <a:ext cx="1554480" cy="347472"/>
          </a:xfrm>
          <a:prstGeom prst="rect">
            <a:avLst/>
          </a:prstGeom>
          <a:noFill/>
          <a:ln/>
        </p:spPr>
        <p:txBody>
          <a:bodyPr wrap="square" rtlCol="0" anchor="ctr"/>
          <a:lstStyle/>
          <a:p>
            <a:pPr algn="ctr" indent="0" marL="0">
              <a:buNone/>
            </a:pPr>
            <a:r>
              <a:rPr lang="en-US" sz="950" dirty="0">
                <a:solidFill>
                  <a:srgbClr val="4A5160"/>
                </a:solidFill>
                <a:latin typeface="Arial" pitchFamily="34" charset="0"/>
                <a:ea typeface="Arial" pitchFamily="34" charset="-122"/>
                <a:cs typeface="Arial" pitchFamily="34" charset="-120"/>
              </a:rPr>
              <a:t>Posts + tijdlijn + Instagram</a:t>
            </a:r>
            <a:endParaRPr lang="en-US" sz="950" dirty="0"/>
          </a:p>
        </p:txBody>
      </p:sp>
      <p:sp>
        <p:nvSpPr>
          <p:cNvPr id="20" name="Shape 18"/>
          <p:cNvSpPr/>
          <p:nvPr/>
        </p:nvSpPr>
        <p:spPr>
          <a:xfrm>
            <a:off x="6336792" y="2029968"/>
            <a:ext cx="0" cy="210312"/>
          </a:xfrm>
          <a:prstGeom prst="line">
            <a:avLst/>
          </a:prstGeom>
          <a:noFill/>
          <a:ln w="19050">
            <a:solidFill>
              <a:srgbClr val="B9C4D6"/>
            </a:solidFill>
            <a:prstDash val="solid"/>
          </a:ln>
        </p:spPr>
      </p:sp>
      <p:sp>
        <p:nvSpPr>
          <p:cNvPr id="21" name="Shape 19"/>
          <p:cNvSpPr/>
          <p:nvPr/>
        </p:nvSpPr>
        <p:spPr>
          <a:xfrm>
            <a:off x="5559552" y="2240280"/>
            <a:ext cx="1554480" cy="777240"/>
          </a:xfrm>
          <a:prstGeom prst="roundRect">
            <a:avLst>
              <a:gd name="adj" fmla="val 7059"/>
            </a:avLst>
          </a:prstGeom>
          <a:solidFill>
            <a:srgbClr val="CFE0E8"/>
          </a:solidFill>
          <a:ln/>
        </p:spPr>
      </p:sp>
      <p:sp>
        <p:nvSpPr>
          <p:cNvPr id="22" name="Text 20"/>
          <p:cNvSpPr/>
          <p:nvPr/>
        </p:nvSpPr>
        <p:spPr>
          <a:xfrm>
            <a:off x="5559552" y="2286000"/>
            <a:ext cx="1554480" cy="365760"/>
          </a:xfrm>
          <a:prstGeom prst="rect">
            <a:avLst/>
          </a:prstGeom>
          <a:noFill/>
          <a:ln/>
        </p:spPr>
        <p:txBody>
          <a:bodyPr wrap="square" rtlCol="0" anchor="ctr"/>
          <a:lstStyle/>
          <a:p>
            <a:pPr algn="ctr" indent="0" marL="0">
              <a:buNone/>
            </a:pPr>
            <a:r>
              <a:rPr lang="en-US" sz="1000" dirty="0">
                <a:solidFill>
                  <a:srgbClr val="2B4C8C"/>
                </a:solidFill>
                <a:latin typeface="Arial Black" pitchFamily="34" charset="0"/>
                <a:ea typeface="Arial Black" pitchFamily="34" charset="-122"/>
                <a:cs typeface="Arial Black" pitchFamily="34" charset="-120"/>
              </a:rPr>
              <a:t>FOTO'S &amp; MEDIA</a:t>
            </a:r>
            <a:endParaRPr lang="en-US" sz="1000" dirty="0"/>
          </a:p>
        </p:txBody>
      </p:sp>
      <p:sp>
        <p:nvSpPr>
          <p:cNvPr id="23" name="Text 21"/>
          <p:cNvSpPr/>
          <p:nvPr/>
        </p:nvSpPr>
        <p:spPr>
          <a:xfrm>
            <a:off x="5559552" y="2633472"/>
            <a:ext cx="1554480" cy="347472"/>
          </a:xfrm>
          <a:prstGeom prst="rect">
            <a:avLst/>
          </a:prstGeom>
          <a:noFill/>
          <a:ln/>
        </p:spPr>
        <p:txBody>
          <a:bodyPr wrap="square" rtlCol="0" anchor="ctr"/>
          <a:lstStyle/>
          <a:p>
            <a:pPr algn="ctr" indent="0" marL="0">
              <a:buNone/>
            </a:pPr>
            <a:r>
              <a:rPr lang="en-US" sz="950" dirty="0">
                <a:solidFill>
                  <a:srgbClr val="4A5160"/>
                </a:solidFill>
                <a:latin typeface="Arial" pitchFamily="34" charset="0"/>
                <a:ea typeface="Arial" pitchFamily="34" charset="-122"/>
                <a:cs typeface="Arial" pitchFamily="34" charset="-120"/>
              </a:rPr>
              <a:t>Galerij + video's</a:t>
            </a:r>
            <a:endParaRPr lang="en-US" sz="950" dirty="0"/>
          </a:p>
        </p:txBody>
      </p:sp>
      <p:sp>
        <p:nvSpPr>
          <p:cNvPr id="24" name="Shape 22"/>
          <p:cNvSpPr/>
          <p:nvPr/>
        </p:nvSpPr>
        <p:spPr>
          <a:xfrm>
            <a:off x="8037576" y="2029968"/>
            <a:ext cx="0" cy="210312"/>
          </a:xfrm>
          <a:prstGeom prst="line">
            <a:avLst/>
          </a:prstGeom>
          <a:noFill/>
          <a:ln w="19050">
            <a:solidFill>
              <a:srgbClr val="B9C4D6"/>
            </a:solidFill>
            <a:prstDash val="solid"/>
          </a:ln>
        </p:spPr>
      </p:sp>
      <p:sp>
        <p:nvSpPr>
          <p:cNvPr id="25" name="Shape 23"/>
          <p:cNvSpPr/>
          <p:nvPr/>
        </p:nvSpPr>
        <p:spPr>
          <a:xfrm>
            <a:off x="7260336" y="2240280"/>
            <a:ext cx="1554480" cy="777240"/>
          </a:xfrm>
          <a:prstGeom prst="roundRect">
            <a:avLst>
              <a:gd name="adj" fmla="val 7059"/>
            </a:avLst>
          </a:prstGeom>
          <a:solidFill>
            <a:srgbClr val="CFE0E8"/>
          </a:solidFill>
          <a:ln/>
        </p:spPr>
      </p:sp>
      <p:sp>
        <p:nvSpPr>
          <p:cNvPr id="26" name="Text 24"/>
          <p:cNvSpPr/>
          <p:nvPr/>
        </p:nvSpPr>
        <p:spPr>
          <a:xfrm>
            <a:off x="7260336" y="2286000"/>
            <a:ext cx="1554480" cy="365760"/>
          </a:xfrm>
          <a:prstGeom prst="rect">
            <a:avLst/>
          </a:prstGeom>
          <a:noFill/>
          <a:ln/>
        </p:spPr>
        <p:txBody>
          <a:bodyPr wrap="square" rtlCol="0" anchor="ctr"/>
          <a:lstStyle/>
          <a:p>
            <a:pPr algn="ctr" indent="0" marL="0">
              <a:buNone/>
            </a:pPr>
            <a:r>
              <a:rPr lang="en-US" sz="1000" dirty="0">
                <a:solidFill>
                  <a:srgbClr val="2B4C8C"/>
                </a:solidFill>
                <a:latin typeface="Arial Black" pitchFamily="34" charset="0"/>
                <a:ea typeface="Arial Black" pitchFamily="34" charset="-122"/>
                <a:cs typeface="Arial Black" pitchFamily="34" charset="-120"/>
              </a:rPr>
              <a:t>OVER ONS</a:t>
            </a:r>
            <a:endParaRPr lang="en-US" sz="1000" dirty="0"/>
          </a:p>
        </p:txBody>
      </p:sp>
      <p:sp>
        <p:nvSpPr>
          <p:cNvPr id="27" name="Text 25"/>
          <p:cNvSpPr/>
          <p:nvPr/>
        </p:nvSpPr>
        <p:spPr>
          <a:xfrm>
            <a:off x="7260336" y="2633472"/>
            <a:ext cx="1554480" cy="347472"/>
          </a:xfrm>
          <a:prstGeom prst="rect">
            <a:avLst/>
          </a:prstGeom>
          <a:noFill/>
          <a:ln/>
        </p:spPr>
        <p:txBody>
          <a:bodyPr wrap="square" rtlCol="0" anchor="ctr"/>
          <a:lstStyle/>
          <a:p>
            <a:pPr algn="ctr" indent="0" marL="0">
              <a:buNone/>
            </a:pPr>
            <a:r>
              <a:rPr lang="en-US" sz="950" dirty="0">
                <a:solidFill>
                  <a:srgbClr val="4A5160"/>
                </a:solidFill>
                <a:latin typeface="Arial" pitchFamily="34" charset="0"/>
                <a:ea typeface="Arial" pitchFamily="34" charset="-122"/>
                <a:cs typeface="Arial" pitchFamily="34" charset="-120"/>
              </a:rPr>
              <a:t>Team + contact</a:t>
            </a:r>
            <a:endParaRPr lang="en-US" sz="950" dirty="0"/>
          </a:p>
        </p:txBody>
      </p:sp>
      <p:sp>
        <p:nvSpPr>
          <p:cNvPr id="28" name="Shape 26"/>
          <p:cNvSpPr/>
          <p:nvPr/>
        </p:nvSpPr>
        <p:spPr>
          <a:xfrm>
            <a:off x="4572000" y="3017520"/>
            <a:ext cx="0" cy="365760"/>
          </a:xfrm>
          <a:prstGeom prst="line">
            <a:avLst/>
          </a:prstGeom>
          <a:noFill/>
          <a:ln w="19050">
            <a:solidFill>
              <a:srgbClr val="B9C4D6"/>
            </a:solidFill>
            <a:prstDash val="dash"/>
          </a:ln>
        </p:spPr>
      </p:sp>
      <p:sp>
        <p:nvSpPr>
          <p:cNvPr id="29" name="Shape 27"/>
          <p:cNvSpPr/>
          <p:nvPr/>
        </p:nvSpPr>
        <p:spPr>
          <a:xfrm>
            <a:off x="3291840" y="3383280"/>
            <a:ext cx="2560320" cy="548640"/>
          </a:xfrm>
          <a:prstGeom prst="roundRect">
            <a:avLst>
              <a:gd name="adj" fmla="val 13333"/>
            </a:avLst>
          </a:prstGeom>
          <a:solidFill>
            <a:srgbClr val="F2C744"/>
          </a:solidFill>
          <a:ln/>
        </p:spPr>
      </p:sp>
      <p:sp>
        <p:nvSpPr>
          <p:cNvPr id="30" name="Text 28"/>
          <p:cNvSpPr/>
          <p:nvPr/>
        </p:nvSpPr>
        <p:spPr>
          <a:xfrm>
            <a:off x="3291840" y="3383280"/>
            <a:ext cx="2560320" cy="548640"/>
          </a:xfrm>
          <a:prstGeom prst="rect">
            <a:avLst/>
          </a:prstGeom>
          <a:noFill/>
          <a:ln/>
        </p:spPr>
        <p:txBody>
          <a:bodyPr wrap="square" rtlCol="0" anchor="ctr"/>
          <a:lstStyle/>
          <a:p>
            <a:pPr algn="ctr" indent="0" marL="0">
              <a:buNone/>
            </a:pPr>
            <a:r>
              <a:rPr lang="en-US" sz="1200" dirty="0">
                <a:solidFill>
                  <a:srgbClr val="2B4C8C"/>
                </a:solidFill>
                <a:latin typeface="Arial Black" pitchFamily="34" charset="0"/>
                <a:ea typeface="Arial Black" pitchFamily="34" charset="-122"/>
                <a:cs typeface="Arial Black" pitchFamily="34" charset="-120"/>
              </a:rPr>
              <a:t>CMS / ADMIN (intern)</a:t>
            </a:r>
            <a:endParaRPr lang="en-US" sz="1200" dirty="0"/>
          </a:p>
        </p:txBody>
      </p:sp>
      <p:sp>
        <p:nvSpPr>
          <p:cNvPr id="31" name="Text 29"/>
          <p:cNvSpPr/>
          <p:nvPr/>
        </p:nvSpPr>
        <p:spPr>
          <a:xfrm>
            <a:off x="457200" y="4160520"/>
            <a:ext cx="8229600" cy="640080"/>
          </a:xfrm>
          <a:prstGeom prst="rect">
            <a:avLst/>
          </a:prstGeom>
          <a:noFill/>
          <a:ln/>
        </p:spPr>
        <p:txBody>
          <a:bodyPr wrap="square" rtlCol="0" anchor="ctr"/>
          <a:lstStyle/>
          <a:p>
            <a:pPr algn="ctr" indent="0" marL="0">
              <a:buNone/>
            </a:pPr>
            <a:r>
              <a:rPr lang="en-US" sz="1200" dirty="0">
                <a:solidFill>
                  <a:srgbClr val="4A5160"/>
                </a:solidFill>
                <a:latin typeface="Arial" pitchFamily="34" charset="0"/>
                <a:ea typeface="Arial" pitchFamily="34" charset="-122"/>
                <a:cs typeface="Arial" pitchFamily="34" charset="-120"/>
              </a:rPr>
              <a:t>Posts beheren · media uploaden · locaties toevoegen — de frontend haalt alle data op via de API. Volledige sitemap, wireframes en UML-diagrammen zitten in de bijlagen.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200" b="1" spc="300" kern="0" dirty="0">
                <a:solidFill>
                  <a:srgbClr val="E8703A"/>
                </a:solidFill>
                <a:latin typeface="Arial" pitchFamily="34" charset="0"/>
                <a:ea typeface="Arial" pitchFamily="34" charset="-122"/>
                <a:cs typeface="Arial" pitchFamily="34" charset="-120"/>
              </a:rPr>
              <a:t>FUNCTIONEEL ONTWERP</a:t>
            </a:r>
            <a:endParaRPr lang="en-US" sz="1200" dirty="0"/>
          </a:p>
        </p:txBody>
      </p:sp>
      <p:sp>
        <p:nvSpPr>
          <p:cNvPr id="3" name="Text 1"/>
          <p:cNvSpPr/>
          <p:nvPr/>
        </p:nvSpPr>
        <p:spPr>
          <a:xfrm>
            <a:off x="457200" y="548640"/>
            <a:ext cx="8229600" cy="548640"/>
          </a:xfrm>
          <a:prstGeom prst="rect">
            <a:avLst/>
          </a:prstGeom>
          <a:noFill/>
          <a:ln/>
        </p:spPr>
        <p:txBody>
          <a:bodyPr wrap="square" rtlCol="0" anchor="ctr"/>
          <a:lstStyle/>
          <a:p>
            <a:pPr indent="0" marL="0">
              <a:buNone/>
            </a:pPr>
            <a:r>
              <a:rPr lang="en-US" sz="2800" dirty="0">
                <a:solidFill>
                  <a:srgbClr val="2B4C8C"/>
                </a:solidFill>
                <a:latin typeface="Arial Black" pitchFamily="34" charset="0"/>
                <a:ea typeface="Arial Black" pitchFamily="34" charset="-122"/>
                <a:cs typeface="Arial Black" pitchFamily="34" charset="-120"/>
              </a:rPr>
              <a:t>De belangrijkste functies</a:t>
            </a:r>
            <a:endParaRPr lang="en-US" sz="2800" dirty="0"/>
          </a:p>
        </p:txBody>
      </p:sp>
      <p:sp>
        <p:nvSpPr>
          <p:cNvPr id="4" name="Shape 2"/>
          <p:cNvSpPr/>
          <p:nvPr/>
        </p:nvSpPr>
        <p:spPr>
          <a:xfrm>
            <a:off x="457200" y="1371600"/>
            <a:ext cx="2651760" cy="1508760"/>
          </a:xfrm>
          <a:prstGeom prst="roundRect">
            <a:avLst>
              <a:gd name="adj" fmla="val 4242"/>
            </a:avLst>
          </a:prstGeom>
          <a:solidFill>
            <a:srgbClr val="F1F0EC"/>
          </a:solidFill>
          <a:ln/>
        </p:spPr>
      </p:sp>
      <p:sp>
        <p:nvSpPr>
          <p:cNvPr id="5" name="Shape 3"/>
          <p:cNvSpPr/>
          <p:nvPr/>
        </p:nvSpPr>
        <p:spPr>
          <a:xfrm>
            <a:off x="594360" y="1508760"/>
            <a:ext cx="384048" cy="384048"/>
          </a:xfrm>
          <a:prstGeom prst="ellipse">
            <a:avLst/>
          </a:prstGeom>
          <a:solidFill>
            <a:srgbClr val="E8703A"/>
          </a:solidFill>
          <a:ln/>
        </p:spPr>
      </p:sp>
      <p:sp>
        <p:nvSpPr>
          <p:cNvPr id="6" name="Text 4"/>
          <p:cNvSpPr/>
          <p:nvPr/>
        </p:nvSpPr>
        <p:spPr>
          <a:xfrm>
            <a:off x="594360" y="1508760"/>
            <a:ext cx="384048" cy="384048"/>
          </a:xfrm>
          <a:prstGeom prst="rect">
            <a:avLst/>
          </a:prstGeom>
          <a:no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7" name="Text 5"/>
          <p:cNvSpPr/>
          <p:nvPr/>
        </p:nvSpPr>
        <p:spPr>
          <a:xfrm>
            <a:off x="1078992" y="1536192"/>
            <a:ext cx="1920240" cy="347472"/>
          </a:xfrm>
          <a:prstGeom prst="rect">
            <a:avLst/>
          </a:prstGeom>
          <a:noFill/>
          <a:ln/>
        </p:spPr>
        <p:txBody>
          <a:bodyPr wrap="square" rtlCol="0" anchor="ctr"/>
          <a:lstStyle/>
          <a:p>
            <a:pPr indent="0" marL="0">
              <a:buNone/>
            </a:pPr>
            <a:r>
              <a:rPr lang="en-US" sz="1150" dirty="0">
                <a:solidFill>
                  <a:srgbClr val="2B4C8C"/>
                </a:solidFill>
                <a:latin typeface="Arial Black" pitchFamily="34" charset="0"/>
                <a:ea typeface="Arial Black" pitchFamily="34" charset="-122"/>
                <a:cs typeface="Arial Black" pitchFamily="34" charset="-120"/>
              </a:rPr>
              <a:t>DAY BY DAY</a:t>
            </a:r>
            <a:endParaRPr lang="en-US" sz="1150" dirty="0"/>
          </a:p>
        </p:txBody>
      </p:sp>
      <p:sp>
        <p:nvSpPr>
          <p:cNvPr id="8" name="Text 6"/>
          <p:cNvSpPr/>
          <p:nvPr/>
        </p:nvSpPr>
        <p:spPr>
          <a:xfrm>
            <a:off x="621792" y="1938528"/>
            <a:ext cx="2331720" cy="868680"/>
          </a:xfrm>
          <a:prstGeom prst="rect">
            <a:avLst/>
          </a:prstGeom>
          <a:noFill/>
          <a:ln/>
        </p:spPr>
        <p:txBody>
          <a:bodyPr wrap="square" rtlCol="0" anchor="t"/>
          <a:lstStyle/>
          <a:p>
            <a:pPr indent="0" marL="0">
              <a:buNone/>
            </a:pPr>
            <a:r>
              <a:rPr lang="en-US" sz="1050" dirty="0">
                <a:solidFill>
                  <a:srgbClr val="4A5160"/>
                </a:solidFill>
                <a:latin typeface="Arial" pitchFamily="34" charset="0"/>
                <a:ea typeface="Arial" pitchFamily="34" charset="-122"/>
                <a:cs typeface="Arial" pitchFamily="34" charset="-120"/>
              </a:rPr>
              <a:t>Per dag een pagina met tekst, foto's en video's, gekoppeld aan de kaart.</a:t>
            </a:r>
            <a:endParaRPr lang="en-US" sz="1050" dirty="0"/>
          </a:p>
        </p:txBody>
      </p:sp>
      <p:sp>
        <p:nvSpPr>
          <p:cNvPr id="9" name="Shape 7"/>
          <p:cNvSpPr/>
          <p:nvPr/>
        </p:nvSpPr>
        <p:spPr>
          <a:xfrm>
            <a:off x="3291840" y="1371600"/>
            <a:ext cx="2651760" cy="1508760"/>
          </a:xfrm>
          <a:prstGeom prst="roundRect">
            <a:avLst>
              <a:gd name="adj" fmla="val 4242"/>
            </a:avLst>
          </a:prstGeom>
          <a:solidFill>
            <a:srgbClr val="F1F0EC"/>
          </a:solidFill>
          <a:ln/>
        </p:spPr>
      </p:sp>
      <p:sp>
        <p:nvSpPr>
          <p:cNvPr id="10" name="Shape 8"/>
          <p:cNvSpPr/>
          <p:nvPr/>
        </p:nvSpPr>
        <p:spPr>
          <a:xfrm>
            <a:off x="3429000" y="1508760"/>
            <a:ext cx="384048" cy="384048"/>
          </a:xfrm>
          <a:prstGeom prst="ellipse">
            <a:avLst/>
          </a:prstGeom>
          <a:solidFill>
            <a:srgbClr val="E8703A"/>
          </a:solidFill>
          <a:ln/>
        </p:spPr>
      </p:sp>
      <p:sp>
        <p:nvSpPr>
          <p:cNvPr id="11" name="Text 9"/>
          <p:cNvSpPr/>
          <p:nvPr/>
        </p:nvSpPr>
        <p:spPr>
          <a:xfrm>
            <a:off x="3429000" y="1508760"/>
            <a:ext cx="384048" cy="384048"/>
          </a:xfrm>
          <a:prstGeom prst="rect">
            <a:avLst/>
          </a:prstGeom>
          <a:no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2" name="Text 10"/>
          <p:cNvSpPr/>
          <p:nvPr/>
        </p:nvSpPr>
        <p:spPr>
          <a:xfrm>
            <a:off x="3913632" y="1536192"/>
            <a:ext cx="1920240" cy="347472"/>
          </a:xfrm>
          <a:prstGeom prst="rect">
            <a:avLst/>
          </a:prstGeom>
          <a:noFill/>
          <a:ln/>
        </p:spPr>
        <p:txBody>
          <a:bodyPr wrap="square" rtlCol="0" anchor="ctr"/>
          <a:lstStyle/>
          <a:p>
            <a:pPr indent="0" marL="0">
              <a:buNone/>
            </a:pPr>
            <a:r>
              <a:rPr lang="en-US" sz="1150" dirty="0">
                <a:solidFill>
                  <a:srgbClr val="2B4C8C"/>
                </a:solidFill>
                <a:latin typeface="Arial Black" pitchFamily="34" charset="0"/>
                <a:ea typeface="Arial Black" pitchFamily="34" charset="-122"/>
                <a:cs typeface="Arial Black" pitchFamily="34" charset="-120"/>
              </a:rPr>
              <a:t>INTERACTIEVE KAART</a:t>
            </a:r>
            <a:endParaRPr lang="en-US" sz="1150" dirty="0"/>
          </a:p>
        </p:txBody>
      </p:sp>
      <p:sp>
        <p:nvSpPr>
          <p:cNvPr id="13" name="Text 11"/>
          <p:cNvSpPr/>
          <p:nvPr/>
        </p:nvSpPr>
        <p:spPr>
          <a:xfrm>
            <a:off x="3456432" y="1938528"/>
            <a:ext cx="2331720" cy="868680"/>
          </a:xfrm>
          <a:prstGeom prst="rect">
            <a:avLst/>
          </a:prstGeom>
          <a:noFill/>
          <a:ln/>
        </p:spPr>
        <p:txBody>
          <a:bodyPr wrap="square" rtlCol="0" anchor="t"/>
          <a:lstStyle/>
          <a:p>
            <a:pPr indent="0" marL="0">
              <a:buNone/>
            </a:pPr>
            <a:r>
              <a:rPr lang="en-US" sz="1050" dirty="0">
                <a:solidFill>
                  <a:srgbClr val="4A5160"/>
                </a:solidFill>
                <a:latin typeface="Arial" pitchFamily="34" charset="0"/>
                <a:ea typeface="Arial" pitchFamily="34" charset="-122"/>
                <a:cs typeface="Arial" pitchFamily="34" charset="-120"/>
              </a:rPr>
              <a:t>Markers uit het CMS (niet hardcoded), filteren op categorie, klikbare popups.</a:t>
            </a:r>
            <a:endParaRPr lang="en-US" sz="1050" dirty="0"/>
          </a:p>
        </p:txBody>
      </p:sp>
      <p:sp>
        <p:nvSpPr>
          <p:cNvPr id="14" name="Shape 12"/>
          <p:cNvSpPr/>
          <p:nvPr/>
        </p:nvSpPr>
        <p:spPr>
          <a:xfrm>
            <a:off x="6126480" y="1371600"/>
            <a:ext cx="2651760" cy="1508760"/>
          </a:xfrm>
          <a:prstGeom prst="roundRect">
            <a:avLst>
              <a:gd name="adj" fmla="val 4242"/>
            </a:avLst>
          </a:prstGeom>
          <a:solidFill>
            <a:srgbClr val="F1F0EC"/>
          </a:solidFill>
          <a:ln/>
        </p:spPr>
      </p:sp>
      <p:sp>
        <p:nvSpPr>
          <p:cNvPr id="15" name="Shape 13"/>
          <p:cNvSpPr/>
          <p:nvPr/>
        </p:nvSpPr>
        <p:spPr>
          <a:xfrm>
            <a:off x="6263640" y="1508760"/>
            <a:ext cx="384048" cy="384048"/>
          </a:xfrm>
          <a:prstGeom prst="ellipse">
            <a:avLst/>
          </a:prstGeom>
          <a:solidFill>
            <a:srgbClr val="E8703A"/>
          </a:solidFill>
          <a:ln/>
        </p:spPr>
      </p:sp>
      <p:sp>
        <p:nvSpPr>
          <p:cNvPr id="16" name="Text 14"/>
          <p:cNvSpPr/>
          <p:nvPr/>
        </p:nvSpPr>
        <p:spPr>
          <a:xfrm>
            <a:off x="6263640" y="1508760"/>
            <a:ext cx="384048" cy="384048"/>
          </a:xfrm>
          <a:prstGeom prst="rect">
            <a:avLst/>
          </a:prstGeom>
          <a:no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Text 15"/>
          <p:cNvSpPr/>
          <p:nvPr/>
        </p:nvSpPr>
        <p:spPr>
          <a:xfrm>
            <a:off x="6748272" y="1536192"/>
            <a:ext cx="1920240" cy="347472"/>
          </a:xfrm>
          <a:prstGeom prst="rect">
            <a:avLst/>
          </a:prstGeom>
          <a:noFill/>
          <a:ln/>
        </p:spPr>
        <p:txBody>
          <a:bodyPr wrap="square" rtlCol="0" anchor="ctr"/>
          <a:lstStyle/>
          <a:p>
            <a:pPr indent="0" marL="0">
              <a:buNone/>
            </a:pPr>
            <a:r>
              <a:rPr lang="en-US" sz="1150" dirty="0">
                <a:solidFill>
                  <a:srgbClr val="2B4C8C"/>
                </a:solidFill>
                <a:latin typeface="Arial Black" pitchFamily="34" charset="0"/>
                <a:ea typeface="Arial Black" pitchFamily="34" charset="-122"/>
                <a:cs typeface="Arial Black" pitchFamily="34" charset="-120"/>
              </a:rPr>
              <a:t>BLOG &amp; TIJDLIJN</a:t>
            </a:r>
            <a:endParaRPr lang="en-US" sz="1150" dirty="0"/>
          </a:p>
        </p:txBody>
      </p:sp>
      <p:sp>
        <p:nvSpPr>
          <p:cNvPr id="18" name="Text 16"/>
          <p:cNvSpPr/>
          <p:nvPr/>
        </p:nvSpPr>
        <p:spPr>
          <a:xfrm>
            <a:off x="6291072" y="1938528"/>
            <a:ext cx="2331720" cy="868680"/>
          </a:xfrm>
          <a:prstGeom prst="rect">
            <a:avLst/>
          </a:prstGeom>
          <a:noFill/>
          <a:ln/>
        </p:spPr>
        <p:txBody>
          <a:bodyPr wrap="square" rtlCol="0" anchor="t"/>
          <a:lstStyle/>
          <a:p>
            <a:pPr indent="0" marL="0">
              <a:buNone/>
            </a:pPr>
            <a:r>
              <a:rPr lang="en-US" sz="1050" dirty="0">
                <a:solidFill>
                  <a:srgbClr val="4A5160"/>
                </a:solidFill>
                <a:latin typeface="Arial" pitchFamily="34" charset="0"/>
                <a:ea typeface="Arial" pitchFamily="34" charset="-122"/>
                <a:cs typeface="Arial" pitchFamily="34" charset="-120"/>
              </a:rPr>
              <a:t>Overzicht op datum, detailpagina's en een scrollbare tijdlijn van de reis.</a:t>
            </a:r>
            <a:endParaRPr lang="en-US" sz="1050" dirty="0"/>
          </a:p>
        </p:txBody>
      </p:sp>
      <p:sp>
        <p:nvSpPr>
          <p:cNvPr id="19" name="Shape 17"/>
          <p:cNvSpPr/>
          <p:nvPr/>
        </p:nvSpPr>
        <p:spPr>
          <a:xfrm>
            <a:off x="457200" y="3063240"/>
            <a:ext cx="2651760" cy="1508760"/>
          </a:xfrm>
          <a:prstGeom prst="roundRect">
            <a:avLst>
              <a:gd name="adj" fmla="val 4242"/>
            </a:avLst>
          </a:prstGeom>
          <a:solidFill>
            <a:srgbClr val="CFE0E8"/>
          </a:solidFill>
          <a:ln/>
        </p:spPr>
      </p:sp>
      <p:sp>
        <p:nvSpPr>
          <p:cNvPr id="20" name="Shape 18"/>
          <p:cNvSpPr/>
          <p:nvPr/>
        </p:nvSpPr>
        <p:spPr>
          <a:xfrm>
            <a:off x="594360" y="3200400"/>
            <a:ext cx="384048" cy="384048"/>
          </a:xfrm>
          <a:prstGeom prst="ellipse">
            <a:avLst/>
          </a:prstGeom>
          <a:solidFill>
            <a:srgbClr val="E8703A"/>
          </a:solidFill>
          <a:ln/>
        </p:spPr>
      </p:sp>
      <p:sp>
        <p:nvSpPr>
          <p:cNvPr id="21" name="Text 19"/>
          <p:cNvSpPr/>
          <p:nvPr/>
        </p:nvSpPr>
        <p:spPr>
          <a:xfrm>
            <a:off x="594360" y="3200400"/>
            <a:ext cx="384048" cy="384048"/>
          </a:xfrm>
          <a:prstGeom prst="rect">
            <a:avLst/>
          </a:prstGeom>
          <a:no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2" name="Text 20"/>
          <p:cNvSpPr/>
          <p:nvPr/>
        </p:nvSpPr>
        <p:spPr>
          <a:xfrm>
            <a:off x="1078992" y="3227832"/>
            <a:ext cx="1920240" cy="347472"/>
          </a:xfrm>
          <a:prstGeom prst="rect">
            <a:avLst/>
          </a:prstGeom>
          <a:noFill/>
          <a:ln/>
        </p:spPr>
        <p:txBody>
          <a:bodyPr wrap="square" rtlCol="0" anchor="ctr"/>
          <a:lstStyle/>
          <a:p>
            <a:pPr indent="0" marL="0">
              <a:buNone/>
            </a:pPr>
            <a:r>
              <a:rPr lang="en-US" sz="1150" dirty="0">
                <a:solidFill>
                  <a:srgbClr val="2B4C8C"/>
                </a:solidFill>
                <a:latin typeface="Arial Black" pitchFamily="34" charset="0"/>
                <a:ea typeface="Arial Black" pitchFamily="34" charset="-122"/>
                <a:cs typeface="Arial Black" pitchFamily="34" charset="-120"/>
              </a:rPr>
              <a:t>INSTAGRAM-FEED</a:t>
            </a:r>
            <a:endParaRPr lang="en-US" sz="1150" dirty="0"/>
          </a:p>
        </p:txBody>
      </p:sp>
      <p:sp>
        <p:nvSpPr>
          <p:cNvPr id="23" name="Text 21"/>
          <p:cNvSpPr/>
          <p:nvPr/>
        </p:nvSpPr>
        <p:spPr>
          <a:xfrm>
            <a:off x="621792" y="3630168"/>
            <a:ext cx="2331720" cy="868680"/>
          </a:xfrm>
          <a:prstGeom prst="rect">
            <a:avLst/>
          </a:prstGeom>
          <a:noFill/>
          <a:ln/>
        </p:spPr>
        <p:txBody>
          <a:bodyPr wrap="square" rtlCol="0" anchor="t"/>
          <a:lstStyle/>
          <a:p>
            <a:pPr indent="0" marL="0">
              <a:buNone/>
            </a:pPr>
            <a:r>
              <a:rPr lang="en-US" sz="1050" dirty="0">
                <a:solidFill>
                  <a:srgbClr val="4A5160"/>
                </a:solidFill>
                <a:latin typeface="Arial" pitchFamily="34" charset="0"/>
                <a:ea typeface="Arial" pitchFamily="34" charset="-122"/>
                <a:cs typeface="Arial" pitchFamily="34" charset="-120"/>
              </a:rPr>
              <a:t>Dynamisch gekoppeld: nieuwe posts verschijnen automatisch op de site.</a:t>
            </a:r>
            <a:endParaRPr lang="en-US" sz="1050" dirty="0"/>
          </a:p>
        </p:txBody>
      </p:sp>
      <p:sp>
        <p:nvSpPr>
          <p:cNvPr id="24" name="Shape 22"/>
          <p:cNvSpPr/>
          <p:nvPr/>
        </p:nvSpPr>
        <p:spPr>
          <a:xfrm>
            <a:off x="3291840" y="3063240"/>
            <a:ext cx="2651760" cy="1508760"/>
          </a:xfrm>
          <a:prstGeom prst="roundRect">
            <a:avLst>
              <a:gd name="adj" fmla="val 4242"/>
            </a:avLst>
          </a:prstGeom>
          <a:solidFill>
            <a:srgbClr val="CFE0E8"/>
          </a:solidFill>
          <a:ln/>
        </p:spPr>
      </p:sp>
      <p:sp>
        <p:nvSpPr>
          <p:cNvPr id="25" name="Shape 23"/>
          <p:cNvSpPr/>
          <p:nvPr/>
        </p:nvSpPr>
        <p:spPr>
          <a:xfrm>
            <a:off x="3429000" y="3200400"/>
            <a:ext cx="384048" cy="384048"/>
          </a:xfrm>
          <a:prstGeom prst="ellipse">
            <a:avLst/>
          </a:prstGeom>
          <a:solidFill>
            <a:srgbClr val="E8703A"/>
          </a:solidFill>
          <a:ln/>
        </p:spPr>
      </p:sp>
      <p:sp>
        <p:nvSpPr>
          <p:cNvPr id="26" name="Text 24"/>
          <p:cNvSpPr/>
          <p:nvPr/>
        </p:nvSpPr>
        <p:spPr>
          <a:xfrm>
            <a:off x="3429000" y="3200400"/>
            <a:ext cx="384048" cy="384048"/>
          </a:xfrm>
          <a:prstGeom prst="rect">
            <a:avLst/>
          </a:prstGeom>
          <a:no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27" name="Text 25"/>
          <p:cNvSpPr/>
          <p:nvPr/>
        </p:nvSpPr>
        <p:spPr>
          <a:xfrm>
            <a:off x="3913632" y="3227832"/>
            <a:ext cx="1920240" cy="347472"/>
          </a:xfrm>
          <a:prstGeom prst="rect">
            <a:avLst/>
          </a:prstGeom>
          <a:noFill/>
          <a:ln/>
        </p:spPr>
        <p:txBody>
          <a:bodyPr wrap="square" rtlCol="0" anchor="ctr"/>
          <a:lstStyle/>
          <a:p>
            <a:pPr indent="0" marL="0">
              <a:buNone/>
            </a:pPr>
            <a:r>
              <a:rPr lang="en-US" sz="1150" dirty="0">
                <a:solidFill>
                  <a:srgbClr val="2B4C8C"/>
                </a:solidFill>
                <a:latin typeface="Arial Black" pitchFamily="34" charset="0"/>
                <a:ea typeface="Arial Black" pitchFamily="34" charset="-122"/>
                <a:cs typeface="Arial Black" pitchFamily="34" charset="-120"/>
              </a:rPr>
              <a:t>MEDIA-GALERIJ</a:t>
            </a:r>
            <a:endParaRPr lang="en-US" sz="1150" dirty="0"/>
          </a:p>
        </p:txBody>
      </p:sp>
      <p:sp>
        <p:nvSpPr>
          <p:cNvPr id="28" name="Text 26"/>
          <p:cNvSpPr/>
          <p:nvPr/>
        </p:nvSpPr>
        <p:spPr>
          <a:xfrm>
            <a:off x="3456432" y="3630168"/>
            <a:ext cx="2331720" cy="868680"/>
          </a:xfrm>
          <a:prstGeom prst="rect">
            <a:avLst/>
          </a:prstGeom>
          <a:noFill/>
          <a:ln/>
        </p:spPr>
        <p:txBody>
          <a:bodyPr wrap="square" rtlCol="0" anchor="t"/>
          <a:lstStyle/>
          <a:p>
            <a:pPr indent="0" marL="0">
              <a:buNone/>
            </a:pPr>
            <a:r>
              <a:rPr lang="en-US" sz="1050" dirty="0">
                <a:solidFill>
                  <a:srgbClr val="4A5160"/>
                </a:solidFill>
                <a:latin typeface="Arial" pitchFamily="34" charset="0"/>
                <a:ea typeface="Arial" pitchFamily="34" charset="-122"/>
                <a:cs typeface="Arial" pitchFamily="34" charset="-120"/>
              </a:rPr>
              <a:t>Foto's per dag en per locatie, met ingesloten video's.</a:t>
            </a:r>
            <a:endParaRPr lang="en-US" sz="1050" dirty="0"/>
          </a:p>
        </p:txBody>
      </p:sp>
      <p:sp>
        <p:nvSpPr>
          <p:cNvPr id="29" name="Shape 27"/>
          <p:cNvSpPr/>
          <p:nvPr/>
        </p:nvSpPr>
        <p:spPr>
          <a:xfrm>
            <a:off x="6126480" y="3063240"/>
            <a:ext cx="2651760" cy="1508760"/>
          </a:xfrm>
          <a:prstGeom prst="roundRect">
            <a:avLst>
              <a:gd name="adj" fmla="val 4242"/>
            </a:avLst>
          </a:prstGeom>
          <a:solidFill>
            <a:srgbClr val="CFE0E8"/>
          </a:solidFill>
          <a:ln/>
        </p:spPr>
      </p:sp>
      <p:sp>
        <p:nvSpPr>
          <p:cNvPr id="30" name="Shape 28"/>
          <p:cNvSpPr/>
          <p:nvPr/>
        </p:nvSpPr>
        <p:spPr>
          <a:xfrm>
            <a:off x="6263640" y="3200400"/>
            <a:ext cx="384048" cy="384048"/>
          </a:xfrm>
          <a:prstGeom prst="ellipse">
            <a:avLst/>
          </a:prstGeom>
          <a:solidFill>
            <a:srgbClr val="E8703A"/>
          </a:solidFill>
          <a:ln/>
        </p:spPr>
      </p:sp>
      <p:sp>
        <p:nvSpPr>
          <p:cNvPr id="31" name="Text 29"/>
          <p:cNvSpPr/>
          <p:nvPr/>
        </p:nvSpPr>
        <p:spPr>
          <a:xfrm>
            <a:off x="6263640" y="3200400"/>
            <a:ext cx="384048" cy="384048"/>
          </a:xfrm>
          <a:prstGeom prst="rect">
            <a:avLst/>
          </a:prstGeom>
          <a:no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6</a:t>
            </a:r>
            <a:endParaRPr lang="en-US" sz="1400" dirty="0"/>
          </a:p>
        </p:txBody>
      </p:sp>
      <p:sp>
        <p:nvSpPr>
          <p:cNvPr id="32" name="Text 30"/>
          <p:cNvSpPr/>
          <p:nvPr/>
        </p:nvSpPr>
        <p:spPr>
          <a:xfrm>
            <a:off x="6748272" y="3227832"/>
            <a:ext cx="1920240" cy="347472"/>
          </a:xfrm>
          <a:prstGeom prst="rect">
            <a:avLst/>
          </a:prstGeom>
          <a:noFill/>
          <a:ln/>
        </p:spPr>
        <p:txBody>
          <a:bodyPr wrap="square" rtlCol="0" anchor="ctr"/>
          <a:lstStyle/>
          <a:p>
            <a:pPr indent="0" marL="0">
              <a:buNone/>
            </a:pPr>
            <a:r>
              <a:rPr lang="en-US" sz="1150" dirty="0">
                <a:solidFill>
                  <a:srgbClr val="2B4C8C"/>
                </a:solidFill>
                <a:latin typeface="Arial Black" pitchFamily="34" charset="0"/>
                <a:ea typeface="Arial Black" pitchFamily="34" charset="-122"/>
                <a:cs typeface="Arial Black" pitchFamily="34" charset="-120"/>
              </a:rPr>
              <a:t>CMS-BEHEER</a:t>
            </a:r>
            <a:endParaRPr lang="en-US" sz="1150" dirty="0"/>
          </a:p>
        </p:txBody>
      </p:sp>
      <p:sp>
        <p:nvSpPr>
          <p:cNvPr id="33" name="Text 31"/>
          <p:cNvSpPr/>
          <p:nvPr/>
        </p:nvSpPr>
        <p:spPr>
          <a:xfrm>
            <a:off x="6291072" y="3630168"/>
            <a:ext cx="2331720" cy="868680"/>
          </a:xfrm>
          <a:prstGeom prst="rect">
            <a:avLst/>
          </a:prstGeom>
          <a:noFill/>
          <a:ln/>
        </p:spPr>
        <p:txBody>
          <a:bodyPr wrap="square" rtlCol="0" anchor="t"/>
          <a:lstStyle/>
          <a:p>
            <a:pPr indent="0" marL="0">
              <a:buNone/>
            </a:pPr>
            <a:r>
              <a:rPr lang="en-US" sz="1050" dirty="0">
                <a:solidFill>
                  <a:srgbClr val="4A5160"/>
                </a:solidFill>
                <a:latin typeface="Arial" pitchFamily="34" charset="0"/>
                <a:ea typeface="Arial" pitchFamily="34" charset="-122"/>
                <a:cs typeface="Arial" pitchFamily="34" charset="-120"/>
              </a:rPr>
              <a:t>Content creators voegen alles toe zonder code; data gaat via de API naar de frontend.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200" b="1" spc="300" kern="0" dirty="0">
                <a:solidFill>
                  <a:srgbClr val="E8703A"/>
                </a:solidFill>
                <a:latin typeface="Arial" pitchFamily="34" charset="0"/>
                <a:ea typeface="Arial" pitchFamily="34" charset="-122"/>
                <a:cs typeface="Arial" pitchFamily="34" charset="-120"/>
              </a:rPr>
              <a:t>VISUEEL DESIGN</a:t>
            </a:r>
            <a:endParaRPr lang="en-US" sz="1200" dirty="0"/>
          </a:p>
        </p:txBody>
      </p:sp>
      <p:sp>
        <p:nvSpPr>
          <p:cNvPr id="3" name="Text 1"/>
          <p:cNvSpPr/>
          <p:nvPr/>
        </p:nvSpPr>
        <p:spPr>
          <a:xfrm>
            <a:off x="457200" y="548640"/>
            <a:ext cx="8229600" cy="548640"/>
          </a:xfrm>
          <a:prstGeom prst="rect">
            <a:avLst/>
          </a:prstGeom>
          <a:noFill/>
          <a:ln/>
        </p:spPr>
        <p:txBody>
          <a:bodyPr wrap="square" rtlCol="0" anchor="ctr"/>
          <a:lstStyle/>
          <a:p>
            <a:pPr indent="0" marL="0">
              <a:buNone/>
            </a:pPr>
            <a:r>
              <a:rPr lang="en-US" sz="2800" dirty="0">
                <a:solidFill>
                  <a:srgbClr val="2B4C8C"/>
                </a:solidFill>
                <a:latin typeface="Arial Black" pitchFamily="34" charset="0"/>
                <a:ea typeface="Arial Black" pitchFamily="34" charset="-122"/>
                <a:cs typeface="Arial Black" pitchFamily="34" charset="-120"/>
              </a:rPr>
              <a:t>Styleguide: Berlijn als inspiratie</a:t>
            </a:r>
            <a:endParaRPr lang="en-US" sz="2800" dirty="0"/>
          </a:p>
        </p:txBody>
      </p:sp>
      <p:sp>
        <p:nvSpPr>
          <p:cNvPr id="4" name="Shape 2"/>
          <p:cNvSpPr/>
          <p:nvPr/>
        </p:nvSpPr>
        <p:spPr>
          <a:xfrm>
            <a:off x="457200" y="1371600"/>
            <a:ext cx="1554480" cy="1051560"/>
          </a:xfrm>
          <a:prstGeom prst="roundRect">
            <a:avLst>
              <a:gd name="adj" fmla="val 5217"/>
            </a:avLst>
          </a:prstGeom>
          <a:solidFill>
            <a:srgbClr val="2B4C8C"/>
          </a:solidFill>
          <a:ln/>
          <a:effectLst>
            <a:outerShdw sx="100000" sy="100000" kx="0" ky="0" algn="bl" rotWithShape="0" blurRad="101600" dist="25400" dir="8100000">
              <a:srgbClr val="2B4C8C">
                <a:alpha val="18000"/>
              </a:srgbClr>
            </a:outerShdw>
          </a:effectLst>
        </p:spPr>
      </p:sp>
      <p:sp>
        <p:nvSpPr>
          <p:cNvPr id="5" name="Text 3"/>
          <p:cNvSpPr/>
          <p:nvPr/>
        </p:nvSpPr>
        <p:spPr>
          <a:xfrm>
            <a:off x="457200" y="1417320"/>
            <a:ext cx="155448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Berlijn-blauw</a:t>
            </a:r>
            <a:endParaRPr lang="en-US" sz="1000" dirty="0"/>
          </a:p>
        </p:txBody>
      </p:sp>
      <p:sp>
        <p:nvSpPr>
          <p:cNvPr id="6" name="Text 4"/>
          <p:cNvSpPr/>
          <p:nvPr/>
        </p:nvSpPr>
        <p:spPr>
          <a:xfrm>
            <a:off x="457200" y="2057400"/>
            <a:ext cx="1554480" cy="274320"/>
          </a:xfrm>
          <a:prstGeom prst="rect">
            <a:avLst/>
          </a:prstGeom>
          <a:noFill/>
          <a:ln/>
        </p:spPr>
        <p:txBody>
          <a:bodyPr wrap="square"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#2B4C8C</a:t>
            </a:r>
            <a:endParaRPr lang="en-US" sz="950" dirty="0"/>
          </a:p>
        </p:txBody>
      </p:sp>
      <p:sp>
        <p:nvSpPr>
          <p:cNvPr id="7" name="Shape 5"/>
          <p:cNvSpPr/>
          <p:nvPr/>
        </p:nvSpPr>
        <p:spPr>
          <a:xfrm>
            <a:off x="2157984" y="1371600"/>
            <a:ext cx="1554480" cy="1051560"/>
          </a:xfrm>
          <a:prstGeom prst="roundRect">
            <a:avLst>
              <a:gd name="adj" fmla="val 5217"/>
            </a:avLst>
          </a:prstGeom>
          <a:solidFill>
            <a:srgbClr val="E8703A"/>
          </a:solidFill>
          <a:ln/>
          <a:effectLst>
            <a:outerShdw sx="100000" sy="100000" kx="0" ky="0" algn="bl" rotWithShape="0" blurRad="101600" dist="25400" dir="8100000">
              <a:srgbClr val="2B4C8C">
                <a:alpha val="18000"/>
              </a:srgbClr>
            </a:outerShdw>
          </a:effectLst>
        </p:spPr>
      </p:sp>
      <p:sp>
        <p:nvSpPr>
          <p:cNvPr id="8" name="Text 6"/>
          <p:cNvSpPr/>
          <p:nvPr/>
        </p:nvSpPr>
        <p:spPr>
          <a:xfrm>
            <a:off x="2157984" y="1417320"/>
            <a:ext cx="155448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Spree-oranje</a:t>
            </a:r>
            <a:endParaRPr lang="en-US" sz="1000" dirty="0"/>
          </a:p>
        </p:txBody>
      </p:sp>
      <p:sp>
        <p:nvSpPr>
          <p:cNvPr id="9" name="Text 7"/>
          <p:cNvSpPr/>
          <p:nvPr/>
        </p:nvSpPr>
        <p:spPr>
          <a:xfrm>
            <a:off x="2157984" y="2057400"/>
            <a:ext cx="1554480" cy="274320"/>
          </a:xfrm>
          <a:prstGeom prst="rect">
            <a:avLst/>
          </a:prstGeom>
          <a:noFill/>
          <a:ln/>
        </p:spPr>
        <p:txBody>
          <a:bodyPr wrap="square"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#E8703A</a:t>
            </a:r>
            <a:endParaRPr lang="en-US" sz="950" dirty="0"/>
          </a:p>
        </p:txBody>
      </p:sp>
      <p:sp>
        <p:nvSpPr>
          <p:cNvPr id="10" name="Shape 8"/>
          <p:cNvSpPr/>
          <p:nvPr/>
        </p:nvSpPr>
        <p:spPr>
          <a:xfrm>
            <a:off x="3858768" y="1371600"/>
            <a:ext cx="1554480" cy="1051560"/>
          </a:xfrm>
          <a:prstGeom prst="roundRect">
            <a:avLst>
              <a:gd name="adj" fmla="val 5217"/>
            </a:avLst>
          </a:prstGeom>
          <a:solidFill>
            <a:srgbClr val="F2C744"/>
          </a:solidFill>
          <a:ln/>
          <a:effectLst>
            <a:outerShdw sx="100000" sy="100000" kx="0" ky="0" algn="bl" rotWithShape="0" blurRad="101600" dist="25400" dir="8100000">
              <a:srgbClr val="2B4C8C">
                <a:alpha val="18000"/>
              </a:srgbClr>
            </a:outerShdw>
          </a:effectLst>
        </p:spPr>
      </p:sp>
      <p:sp>
        <p:nvSpPr>
          <p:cNvPr id="11" name="Text 9"/>
          <p:cNvSpPr/>
          <p:nvPr/>
        </p:nvSpPr>
        <p:spPr>
          <a:xfrm>
            <a:off x="3858768" y="1417320"/>
            <a:ext cx="1554480" cy="320040"/>
          </a:xfrm>
          <a:prstGeom prst="rect">
            <a:avLst/>
          </a:prstGeom>
          <a:noFill/>
          <a:ln/>
        </p:spPr>
        <p:txBody>
          <a:bodyPr wrap="square" rtlCol="0" anchor="ctr"/>
          <a:lstStyle/>
          <a:p>
            <a:pPr algn="ctr" indent="0" marL="0">
              <a:buNone/>
            </a:pPr>
            <a:r>
              <a:rPr lang="en-US" sz="1000" b="1" dirty="0">
                <a:solidFill>
                  <a:srgbClr val="1E2430"/>
                </a:solidFill>
                <a:latin typeface="Arial" pitchFamily="34" charset="0"/>
                <a:ea typeface="Arial" pitchFamily="34" charset="-122"/>
                <a:cs typeface="Arial" pitchFamily="34" charset="-120"/>
              </a:rPr>
              <a:t>U-Bahn-geel</a:t>
            </a:r>
            <a:endParaRPr lang="en-US" sz="1000" dirty="0"/>
          </a:p>
        </p:txBody>
      </p:sp>
      <p:sp>
        <p:nvSpPr>
          <p:cNvPr id="12" name="Text 10"/>
          <p:cNvSpPr/>
          <p:nvPr/>
        </p:nvSpPr>
        <p:spPr>
          <a:xfrm>
            <a:off x="3858768" y="2057400"/>
            <a:ext cx="1554480" cy="274320"/>
          </a:xfrm>
          <a:prstGeom prst="rect">
            <a:avLst/>
          </a:prstGeom>
          <a:noFill/>
          <a:ln/>
        </p:spPr>
        <p:txBody>
          <a:bodyPr wrap="square" rtlCol="0" anchor="ctr"/>
          <a:lstStyle/>
          <a:p>
            <a:pPr algn="ctr" indent="0" marL="0">
              <a:buNone/>
            </a:pPr>
            <a:r>
              <a:rPr lang="en-US" sz="950" dirty="0">
                <a:solidFill>
                  <a:srgbClr val="1E2430"/>
                </a:solidFill>
                <a:latin typeface="Arial" pitchFamily="34" charset="0"/>
                <a:ea typeface="Arial" pitchFamily="34" charset="-122"/>
                <a:cs typeface="Arial" pitchFamily="34" charset="-120"/>
              </a:rPr>
              <a:t>#F2C744</a:t>
            </a:r>
            <a:endParaRPr lang="en-US" sz="950" dirty="0"/>
          </a:p>
        </p:txBody>
      </p:sp>
      <p:sp>
        <p:nvSpPr>
          <p:cNvPr id="13" name="Shape 11"/>
          <p:cNvSpPr/>
          <p:nvPr/>
        </p:nvSpPr>
        <p:spPr>
          <a:xfrm>
            <a:off x="5559552" y="1371600"/>
            <a:ext cx="1554480" cy="1051560"/>
          </a:xfrm>
          <a:prstGeom prst="roundRect">
            <a:avLst>
              <a:gd name="adj" fmla="val 5217"/>
            </a:avLst>
          </a:prstGeom>
          <a:solidFill>
            <a:srgbClr val="CFE0E8"/>
          </a:solidFill>
          <a:ln/>
          <a:effectLst>
            <a:outerShdw sx="100000" sy="100000" kx="0" ky="0" algn="bl" rotWithShape="0" blurRad="101600" dist="25400" dir="8100000">
              <a:srgbClr val="2B4C8C">
                <a:alpha val="18000"/>
              </a:srgbClr>
            </a:outerShdw>
          </a:effectLst>
        </p:spPr>
      </p:sp>
      <p:sp>
        <p:nvSpPr>
          <p:cNvPr id="14" name="Text 12"/>
          <p:cNvSpPr/>
          <p:nvPr/>
        </p:nvSpPr>
        <p:spPr>
          <a:xfrm>
            <a:off x="5559552" y="1417320"/>
            <a:ext cx="1554480" cy="320040"/>
          </a:xfrm>
          <a:prstGeom prst="rect">
            <a:avLst/>
          </a:prstGeom>
          <a:noFill/>
          <a:ln/>
        </p:spPr>
        <p:txBody>
          <a:bodyPr wrap="square" rtlCol="0" anchor="ctr"/>
          <a:lstStyle/>
          <a:p>
            <a:pPr algn="ctr" indent="0" marL="0">
              <a:buNone/>
            </a:pPr>
            <a:r>
              <a:rPr lang="en-US" sz="1000" b="1" dirty="0">
                <a:solidFill>
                  <a:srgbClr val="1E2430"/>
                </a:solidFill>
                <a:latin typeface="Arial" pitchFamily="34" charset="0"/>
                <a:ea typeface="Arial" pitchFamily="34" charset="-122"/>
                <a:cs typeface="Arial" pitchFamily="34" charset="-120"/>
              </a:rPr>
              <a:t>IJsblauw</a:t>
            </a:r>
            <a:endParaRPr lang="en-US" sz="1000" dirty="0"/>
          </a:p>
        </p:txBody>
      </p:sp>
      <p:sp>
        <p:nvSpPr>
          <p:cNvPr id="15" name="Text 13"/>
          <p:cNvSpPr/>
          <p:nvPr/>
        </p:nvSpPr>
        <p:spPr>
          <a:xfrm>
            <a:off x="5559552" y="2057400"/>
            <a:ext cx="1554480" cy="274320"/>
          </a:xfrm>
          <a:prstGeom prst="rect">
            <a:avLst/>
          </a:prstGeom>
          <a:noFill/>
          <a:ln/>
        </p:spPr>
        <p:txBody>
          <a:bodyPr wrap="square" rtlCol="0" anchor="ctr"/>
          <a:lstStyle/>
          <a:p>
            <a:pPr algn="ctr" indent="0" marL="0">
              <a:buNone/>
            </a:pPr>
            <a:r>
              <a:rPr lang="en-US" sz="950" dirty="0">
                <a:solidFill>
                  <a:srgbClr val="1E2430"/>
                </a:solidFill>
                <a:latin typeface="Arial" pitchFamily="34" charset="0"/>
                <a:ea typeface="Arial" pitchFamily="34" charset="-122"/>
                <a:cs typeface="Arial" pitchFamily="34" charset="-120"/>
              </a:rPr>
              <a:t>#CFE0E8</a:t>
            </a:r>
            <a:endParaRPr lang="en-US" sz="950" dirty="0"/>
          </a:p>
        </p:txBody>
      </p:sp>
      <p:sp>
        <p:nvSpPr>
          <p:cNvPr id="16" name="Shape 14"/>
          <p:cNvSpPr/>
          <p:nvPr/>
        </p:nvSpPr>
        <p:spPr>
          <a:xfrm>
            <a:off x="7260336" y="1371600"/>
            <a:ext cx="1554480" cy="1051560"/>
          </a:xfrm>
          <a:prstGeom prst="roundRect">
            <a:avLst>
              <a:gd name="adj" fmla="val 5217"/>
            </a:avLst>
          </a:prstGeom>
          <a:solidFill>
            <a:srgbClr val="F1F0EC"/>
          </a:solidFill>
          <a:ln/>
          <a:effectLst>
            <a:outerShdw sx="100000" sy="100000" kx="0" ky="0" algn="bl" rotWithShape="0" blurRad="101600" dist="25400" dir="8100000">
              <a:srgbClr val="2B4C8C">
                <a:alpha val="18000"/>
              </a:srgbClr>
            </a:outerShdw>
          </a:effectLst>
        </p:spPr>
      </p:sp>
      <p:sp>
        <p:nvSpPr>
          <p:cNvPr id="17" name="Text 15"/>
          <p:cNvSpPr/>
          <p:nvPr/>
        </p:nvSpPr>
        <p:spPr>
          <a:xfrm>
            <a:off x="7260336" y="1417320"/>
            <a:ext cx="1554480" cy="320040"/>
          </a:xfrm>
          <a:prstGeom prst="rect">
            <a:avLst/>
          </a:prstGeom>
          <a:noFill/>
          <a:ln/>
        </p:spPr>
        <p:txBody>
          <a:bodyPr wrap="square" rtlCol="0" anchor="ctr"/>
          <a:lstStyle/>
          <a:p>
            <a:pPr algn="ctr" indent="0" marL="0">
              <a:buNone/>
            </a:pPr>
            <a:r>
              <a:rPr lang="en-US" sz="1000" b="1" dirty="0">
                <a:solidFill>
                  <a:srgbClr val="1E2430"/>
                </a:solidFill>
                <a:latin typeface="Arial" pitchFamily="34" charset="0"/>
                <a:ea typeface="Arial" pitchFamily="34" charset="-122"/>
                <a:cs typeface="Arial" pitchFamily="34" charset="-120"/>
              </a:rPr>
              <a:t>Beton-grijs</a:t>
            </a:r>
            <a:endParaRPr lang="en-US" sz="1000" dirty="0"/>
          </a:p>
        </p:txBody>
      </p:sp>
      <p:sp>
        <p:nvSpPr>
          <p:cNvPr id="18" name="Text 16"/>
          <p:cNvSpPr/>
          <p:nvPr/>
        </p:nvSpPr>
        <p:spPr>
          <a:xfrm>
            <a:off x="7260336" y="2057400"/>
            <a:ext cx="1554480" cy="274320"/>
          </a:xfrm>
          <a:prstGeom prst="rect">
            <a:avLst/>
          </a:prstGeom>
          <a:noFill/>
          <a:ln/>
        </p:spPr>
        <p:txBody>
          <a:bodyPr wrap="square" rtlCol="0" anchor="ctr"/>
          <a:lstStyle/>
          <a:p>
            <a:pPr algn="ctr" indent="0" marL="0">
              <a:buNone/>
            </a:pPr>
            <a:r>
              <a:rPr lang="en-US" sz="950" dirty="0">
                <a:solidFill>
                  <a:srgbClr val="1E2430"/>
                </a:solidFill>
                <a:latin typeface="Arial" pitchFamily="34" charset="0"/>
                <a:ea typeface="Arial" pitchFamily="34" charset="-122"/>
                <a:cs typeface="Arial" pitchFamily="34" charset="-120"/>
              </a:rPr>
              <a:t>#F1F0EC</a:t>
            </a:r>
            <a:endParaRPr lang="en-US" sz="950" dirty="0"/>
          </a:p>
        </p:txBody>
      </p:sp>
      <p:sp>
        <p:nvSpPr>
          <p:cNvPr id="19" name="Text 17"/>
          <p:cNvSpPr/>
          <p:nvPr/>
        </p:nvSpPr>
        <p:spPr>
          <a:xfrm>
            <a:off x="457200" y="2743200"/>
            <a:ext cx="4114800" cy="502920"/>
          </a:xfrm>
          <a:prstGeom prst="rect">
            <a:avLst/>
          </a:prstGeom>
          <a:noFill/>
          <a:ln/>
        </p:spPr>
        <p:txBody>
          <a:bodyPr wrap="square" rtlCol="0" anchor="ctr"/>
          <a:lstStyle/>
          <a:p>
            <a:pPr indent="0" marL="0">
              <a:buNone/>
            </a:pPr>
            <a:r>
              <a:rPr lang="en-US" sz="2200" dirty="0">
                <a:solidFill>
                  <a:srgbClr val="2B4C8C"/>
                </a:solidFill>
                <a:latin typeface="Arial Black" pitchFamily="34" charset="0"/>
                <a:ea typeface="Arial Black" pitchFamily="34" charset="-122"/>
                <a:cs typeface="Arial Black" pitchFamily="34" charset="-120"/>
              </a:rPr>
              <a:t>AaBb — Archivo Black</a:t>
            </a:r>
            <a:endParaRPr lang="en-US" sz="2200" dirty="0"/>
          </a:p>
        </p:txBody>
      </p:sp>
      <p:sp>
        <p:nvSpPr>
          <p:cNvPr id="20" name="Text 18"/>
          <p:cNvSpPr/>
          <p:nvPr/>
        </p:nvSpPr>
        <p:spPr>
          <a:xfrm>
            <a:off x="457200" y="3246120"/>
            <a:ext cx="4114800" cy="365760"/>
          </a:xfrm>
          <a:prstGeom prst="rect">
            <a:avLst/>
          </a:prstGeom>
          <a:noFill/>
          <a:ln/>
        </p:spPr>
        <p:txBody>
          <a:bodyPr wrap="square" rtlCol="0" anchor="ctr"/>
          <a:lstStyle/>
          <a:p>
            <a:pPr indent="0" marL="0">
              <a:buNone/>
            </a:pPr>
            <a:r>
              <a:rPr lang="en-US" sz="1150" dirty="0">
                <a:solidFill>
                  <a:srgbClr val="4A5160"/>
                </a:solidFill>
                <a:latin typeface="Arial" pitchFamily="34" charset="0"/>
                <a:ea typeface="Arial" pitchFamily="34" charset="-122"/>
                <a:cs typeface="Arial" pitchFamily="34" charset="-120"/>
              </a:rPr>
              <a:t>Koppen: groot, vet en met letterafstand — zoals Berlijnse stationsborden.</a:t>
            </a:r>
            <a:endParaRPr lang="en-US" sz="1150" dirty="0"/>
          </a:p>
        </p:txBody>
      </p:sp>
      <p:sp>
        <p:nvSpPr>
          <p:cNvPr id="21" name="Text 19"/>
          <p:cNvSpPr/>
          <p:nvPr/>
        </p:nvSpPr>
        <p:spPr>
          <a:xfrm>
            <a:off x="457200" y="3657600"/>
            <a:ext cx="4114800" cy="411480"/>
          </a:xfrm>
          <a:prstGeom prst="rect">
            <a:avLst/>
          </a:prstGeom>
          <a:noFill/>
          <a:ln/>
        </p:spPr>
        <p:txBody>
          <a:bodyPr wrap="square" rtlCol="0" anchor="ctr"/>
          <a:lstStyle/>
          <a:p>
            <a:pPr indent="0" marL="0">
              <a:buNone/>
            </a:pPr>
            <a:r>
              <a:rPr lang="en-US" sz="1800" dirty="0">
                <a:solidFill>
                  <a:srgbClr val="1E2430"/>
                </a:solidFill>
                <a:latin typeface="Arial" pitchFamily="34" charset="0"/>
                <a:ea typeface="Arial" pitchFamily="34" charset="-122"/>
                <a:cs typeface="Arial" pitchFamily="34" charset="-120"/>
              </a:rPr>
              <a:t>AaBb — Inter</a:t>
            </a:r>
            <a:endParaRPr lang="en-US" sz="1800" dirty="0"/>
          </a:p>
        </p:txBody>
      </p:sp>
      <p:sp>
        <p:nvSpPr>
          <p:cNvPr id="22" name="Text 20"/>
          <p:cNvSpPr/>
          <p:nvPr/>
        </p:nvSpPr>
        <p:spPr>
          <a:xfrm>
            <a:off x="457200" y="4069080"/>
            <a:ext cx="4114800" cy="365760"/>
          </a:xfrm>
          <a:prstGeom prst="rect">
            <a:avLst/>
          </a:prstGeom>
          <a:noFill/>
          <a:ln/>
        </p:spPr>
        <p:txBody>
          <a:bodyPr wrap="square" rtlCol="0" anchor="ctr"/>
          <a:lstStyle/>
          <a:p>
            <a:pPr indent="0" marL="0">
              <a:buNone/>
            </a:pPr>
            <a:r>
              <a:rPr lang="en-US" sz="1150" dirty="0">
                <a:solidFill>
                  <a:srgbClr val="4A5160"/>
                </a:solidFill>
                <a:latin typeface="Arial" pitchFamily="34" charset="0"/>
                <a:ea typeface="Arial" pitchFamily="34" charset="-122"/>
                <a:cs typeface="Arial" pitchFamily="34" charset="-120"/>
              </a:rPr>
              <a:t>Bodytekst: rustig en goed leesbaar, regelhoogte 1.6 (toegankelijkheidseis).</a:t>
            </a:r>
            <a:endParaRPr lang="en-US" sz="1150" dirty="0"/>
          </a:p>
        </p:txBody>
      </p:sp>
      <p:sp>
        <p:nvSpPr>
          <p:cNvPr id="23" name="Shape 21"/>
          <p:cNvSpPr/>
          <p:nvPr/>
        </p:nvSpPr>
        <p:spPr>
          <a:xfrm>
            <a:off x="4846320" y="2743200"/>
            <a:ext cx="3840480" cy="1828800"/>
          </a:xfrm>
          <a:prstGeom prst="roundRect">
            <a:avLst>
              <a:gd name="adj" fmla="val 4000"/>
            </a:avLst>
          </a:prstGeom>
          <a:solidFill>
            <a:srgbClr val="F1F0EC"/>
          </a:solidFill>
          <a:ln/>
          <a:effectLst>
            <a:outerShdw sx="100000" sy="100000" kx="0" ky="0" algn="bl" rotWithShape="0" blurRad="101600" dist="25400" dir="8100000">
              <a:srgbClr val="2B4C8C">
                <a:alpha val="18000"/>
              </a:srgbClr>
            </a:outerShdw>
          </a:effectLst>
        </p:spPr>
      </p:sp>
      <p:sp>
        <p:nvSpPr>
          <p:cNvPr id="24" name="Text 22"/>
          <p:cNvSpPr/>
          <p:nvPr/>
        </p:nvSpPr>
        <p:spPr>
          <a:xfrm>
            <a:off x="5010912" y="2880360"/>
            <a:ext cx="3511296" cy="365760"/>
          </a:xfrm>
          <a:prstGeom prst="rect">
            <a:avLst/>
          </a:prstGeom>
          <a:noFill/>
          <a:ln/>
        </p:spPr>
        <p:txBody>
          <a:bodyPr wrap="square" rtlCol="0" anchor="ctr"/>
          <a:lstStyle/>
          <a:p>
            <a:pPr indent="0" marL="0">
              <a:buNone/>
            </a:pPr>
            <a:r>
              <a:rPr lang="en-US" sz="1500" dirty="0">
                <a:solidFill>
                  <a:srgbClr val="2B4C8C"/>
                </a:solidFill>
                <a:latin typeface="Arial Black" pitchFamily="34" charset="0"/>
                <a:ea typeface="Arial Black" pitchFamily="34" charset="-122"/>
                <a:cs typeface="Arial Black" pitchFamily="34" charset="-120"/>
              </a:rPr>
              <a:t>UI-COMPONENTEN</a:t>
            </a:r>
            <a:endParaRPr lang="en-US" sz="1500" dirty="0"/>
          </a:p>
        </p:txBody>
      </p:sp>
      <p:sp>
        <p:nvSpPr>
          <p:cNvPr id="25" name="Text 23"/>
          <p:cNvSpPr/>
          <p:nvPr/>
        </p:nvSpPr>
        <p:spPr>
          <a:xfrm>
            <a:off x="5010912" y="3246120"/>
            <a:ext cx="3511296" cy="1188720"/>
          </a:xfrm>
          <a:prstGeom prst="rect">
            <a:avLst/>
          </a:prstGeom>
          <a:noFill/>
          <a:ln/>
        </p:spPr>
        <p:txBody>
          <a:bodyPr wrap="square" rtlCol="0" anchor="t"/>
          <a:lstStyle/>
          <a:p>
            <a:pPr indent="0" marL="0">
              <a:buNone/>
            </a:pPr>
            <a:r>
              <a:rPr lang="en-US" sz="1150" dirty="0">
                <a:solidFill>
                  <a:srgbClr val="4A5160"/>
                </a:solidFill>
                <a:latin typeface="Arial" pitchFamily="34" charset="0"/>
                <a:ea typeface="Arial" pitchFamily="34" charset="-122"/>
                <a:cs typeface="Arial" pitchFamily="34" charset="-120"/>
              </a:rPr>
              <a:t>Pill-knoppen (blauw, hover oranje) · cards met ronde hoeken en lift-effect · gele tijdlijn met oranje punten · gekleurde kaart-markers per categorie. Alles staat als componenten in het Figma-designsysteem.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200" b="1" spc="300" kern="0" dirty="0">
                <a:solidFill>
                  <a:srgbClr val="E8703A"/>
                </a:solidFill>
                <a:latin typeface="Arial" pitchFamily="34" charset="0"/>
                <a:ea typeface="Arial" pitchFamily="34" charset="-122"/>
                <a:cs typeface="Arial" pitchFamily="34" charset="-120"/>
              </a:rPr>
              <a:t>TECHNISCHE KEUZE 1</a:t>
            </a:r>
            <a:endParaRPr lang="en-US" sz="1200" dirty="0"/>
          </a:p>
        </p:txBody>
      </p:sp>
      <p:sp>
        <p:nvSpPr>
          <p:cNvPr id="3" name="Text 1"/>
          <p:cNvSpPr/>
          <p:nvPr/>
        </p:nvSpPr>
        <p:spPr>
          <a:xfrm>
            <a:off x="457200" y="548640"/>
            <a:ext cx="8229600" cy="548640"/>
          </a:xfrm>
          <a:prstGeom prst="rect">
            <a:avLst/>
          </a:prstGeom>
          <a:noFill/>
          <a:ln/>
        </p:spPr>
        <p:txBody>
          <a:bodyPr wrap="square" rtlCol="0" anchor="ctr"/>
          <a:lstStyle/>
          <a:p>
            <a:pPr indent="0" marL="0">
              <a:buNone/>
            </a:pPr>
            <a:r>
              <a:rPr lang="en-US" sz="2800" dirty="0">
                <a:solidFill>
                  <a:srgbClr val="2B4C8C"/>
                </a:solidFill>
                <a:latin typeface="Arial Black" pitchFamily="34" charset="0"/>
                <a:ea typeface="Arial Black" pitchFamily="34" charset="-122"/>
                <a:cs typeface="Arial Black" pitchFamily="34" charset="-120"/>
              </a:rPr>
              <a:t>Het CMS: eigen dashboard</a:t>
            </a:r>
            <a:endParaRPr lang="en-US" sz="2800" dirty="0"/>
          </a:p>
        </p:txBody>
      </p:sp>
      <p:sp>
        <p:nvSpPr>
          <p:cNvPr id="4" name="Text 2"/>
          <p:cNvSpPr/>
          <p:nvPr/>
        </p:nvSpPr>
        <p:spPr>
          <a:xfrm>
            <a:off x="457200" y="1188720"/>
            <a:ext cx="8229600" cy="640080"/>
          </a:xfrm>
          <a:prstGeom prst="rect">
            <a:avLst/>
          </a:prstGeom>
          <a:noFill/>
          <a:ln/>
        </p:spPr>
        <p:txBody>
          <a:bodyPr wrap="square" rtlCol="0" anchor="ctr"/>
          <a:lstStyle/>
          <a:p>
            <a:pPr indent="0" marL="0">
              <a:buNone/>
            </a:pPr>
            <a:r>
              <a:rPr lang="en-US" sz="1300" dirty="0">
                <a:solidFill>
                  <a:srgbClr val="4A5160"/>
                </a:solidFill>
                <a:latin typeface="Arial" pitchFamily="34" charset="0"/>
                <a:ea typeface="Arial" pitchFamily="34" charset="-122"/>
                <a:cs typeface="Arial" pitchFamily="34" charset="-120"/>
              </a:rPr>
              <a:t>Voor de PoC bouwden we een eigen CMS-dashboard. Een content creator beheert posts en locaties zonder code; de website haalt die data op. Voor een live productieversie ligt Strapi klaar.</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8229600" cy="914400"/>
        </p:xfrm>
        <a:graphic>
          <a:graphicData uri="http://schemas.openxmlformats.org/drawingml/2006/table">
            <a:tbl>
              <a:tblPr/>
              <a:tblGrid>
                <a:gridCol w="2743200"/>
                <a:gridCol w="2011680"/>
                <a:gridCol w="1737360"/>
                <a:gridCol w="1737360"/>
              </a:tblGrid>
              <a:tr h="384048">
                <a:tc>
                  <a:txBody>
                    <a:bodyPr/>
                    <a:lstStyle/>
                    <a:p>
                      <a:pPr indent="0" marL="0">
                        <a:buNone/>
                      </a:pP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Eigen dashboard (PoC)</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2B4C8C"/>
                    </a:solidFill>
                  </a:tcPr>
                </a:tc>
                <a:tc>
                  <a:txBody>
                    <a:bodyPr/>
                    <a:lstStyle/>
                    <a:p>
                      <a:pPr algn="ctr" indent="0" marL="0">
                        <a:buNone/>
                      </a:pPr>
                      <a:r>
                        <a:rPr lang="en-US" sz="1100" b="1" dirty="0">
                          <a:solidFill>
                            <a:srgbClr val="1E2430"/>
                          </a:solidFill>
                          <a:latin typeface="Arial" pitchFamily="34" charset="0"/>
                          <a:ea typeface="Arial" pitchFamily="34" charset="-122"/>
                          <a:cs typeface="Arial" pitchFamily="34" charset="-120"/>
                        </a:rPr>
                        <a:t>Strapi</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FE0E8"/>
                    </a:solidFill>
                  </a:tcPr>
                </a:tc>
                <a:tc>
                  <a:txBody>
                    <a:bodyPr/>
                    <a:lstStyle/>
                    <a:p>
                      <a:pPr algn="ctr" indent="0" marL="0">
                        <a:buNone/>
                      </a:pPr>
                      <a:r>
                        <a:rPr lang="en-US" sz="1100" b="1" dirty="0">
                          <a:solidFill>
                            <a:srgbClr val="1E2430"/>
                          </a:solidFill>
                          <a:latin typeface="Arial" pitchFamily="34" charset="0"/>
                          <a:ea typeface="Arial" pitchFamily="34" charset="-122"/>
                          <a:cs typeface="Arial" pitchFamily="34" charset="-120"/>
                        </a:rPr>
                        <a:t>WordPress</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FE0E8"/>
                    </a:solidFill>
                  </a:tcPr>
                </a:tc>
              </a:tr>
              <a:tr h="384048">
                <a:tc>
                  <a:txBody>
                    <a:bodyPr/>
                    <a:lstStyle/>
                    <a:p>
                      <a:pPr indent="0" marL="0">
                        <a:buNone/>
                      </a:pPr>
                      <a:r>
                        <a:rPr lang="en-US" sz="1100" b="1" dirty="0">
                          <a:solidFill>
                            <a:srgbClr val="1E2430"/>
                          </a:solidFill>
                          <a:latin typeface="Arial" pitchFamily="34" charset="0"/>
                          <a:ea typeface="Arial" pitchFamily="34" charset="-122"/>
                          <a:cs typeface="Arial" pitchFamily="34" charset="-120"/>
                        </a:rPr>
                        <a:t>Beheer zonder code</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Ja</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5EAD8"/>
                    </a:solidFill>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Ja</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Ja</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384048">
                <a:tc>
                  <a:txBody>
                    <a:bodyPr/>
                    <a:lstStyle/>
                    <a:p>
                      <a:pPr indent="0" marL="0">
                        <a:buNone/>
                      </a:pPr>
                      <a:r>
                        <a:rPr lang="en-US" sz="1100" b="1" dirty="0">
                          <a:solidFill>
                            <a:srgbClr val="1E2430"/>
                          </a:solidFill>
                          <a:latin typeface="Arial" pitchFamily="34" charset="0"/>
                          <a:ea typeface="Arial" pitchFamily="34" charset="-122"/>
                          <a:cs typeface="Arial" pitchFamily="34" charset="-120"/>
                        </a:rPr>
                        <a:t>Posts + media toevoegen</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Ja</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5EAD8"/>
                    </a:solidFill>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Ja</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Ja</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384048">
                <a:tc>
                  <a:txBody>
                    <a:bodyPr/>
                    <a:lstStyle/>
                    <a:p>
                      <a:pPr indent="0" marL="0">
                        <a:buNone/>
                      </a:pPr>
                      <a:r>
                        <a:rPr lang="en-US" sz="1100" b="1" dirty="0">
                          <a:solidFill>
                            <a:srgbClr val="1E2430"/>
                          </a:solidFill>
                          <a:latin typeface="Arial" pitchFamily="34" charset="0"/>
                          <a:ea typeface="Arial" pitchFamily="34" charset="-122"/>
                          <a:cs typeface="Arial" pitchFamily="34" charset="-120"/>
                        </a:rPr>
                        <a:t>Locaties (lat/lng) beheren</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Ja</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5EAD8"/>
                    </a:solidFill>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Ja</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Plugin nodig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384048">
                <a:tc>
                  <a:txBody>
                    <a:bodyPr/>
                    <a:lstStyle/>
                    <a:p>
                      <a:pPr indent="0" marL="0">
                        <a:buNone/>
                      </a:pPr>
                      <a:r>
                        <a:rPr lang="en-US" sz="1100" b="1" dirty="0">
                          <a:solidFill>
                            <a:srgbClr val="1E2430"/>
                          </a:solidFill>
                          <a:latin typeface="Arial" pitchFamily="34" charset="0"/>
                          <a:ea typeface="Arial" pitchFamily="34" charset="-122"/>
                          <a:cs typeface="Arial" pitchFamily="34" charset="-120"/>
                        </a:rPr>
                        <a:t>Direct werkend, geen hosting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Ja</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5EAD8"/>
                    </a:solidFill>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Account nodig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100" dirty="0">
                          <a:solidFill>
                            <a:srgbClr val="1E2430"/>
                          </a:solidFill>
                          <a:latin typeface="Arial" pitchFamily="34" charset="0"/>
                          <a:ea typeface="Arial" pitchFamily="34" charset="-122"/>
                          <a:cs typeface="Arial" pitchFamily="34" charset="-120"/>
                        </a:rPr>
                        <a:t>Hosting nodig</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
        <p:nvSpPr>
          <p:cNvPr id="6" name="Shape 3"/>
          <p:cNvSpPr/>
          <p:nvPr/>
        </p:nvSpPr>
        <p:spPr>
          <a:xfrm>
            <a:off x="457200" y="3794760"/>
            <a:ext cx="8229600" cy="960120"/>
          </a:xfrm>
          <a:prstGeom prst="roundRect">
            <a:avLst>
              <a:gd name="adj" fmla="val 7619"/>
            </a:avLst>
          </a:prstGeom>
          <a:solidFill>
            <a:srgbClr val="F2C744"/>
          </a:solidFill>
          <a:ln/>
          <a:effectLst>
            <a:outerShdw sx="100000" sy="100000" kx="0" ky="0" algn="bl" rotWithShape="0" blurRad="101600" dist="25400" dir="8100000">
              <a:srgbClr val="2B4C8C">
                <a:alpha val="18000"/>
              </a:srgbClr>
            </a:outerShdw>
          </a:effectLst>
        </p:spPr>
      </p:sp>
      <p:sp>
        <p:nvSpPr>
          <p:cNvPr id="7" name="Text 4"/>
          <p:cNvSpPr/>
          <p:nvPr/>
        </p:nvSpPr>
        <p:spPr>
          <a:xfrm>
            <a:off x="621792" y="3931920"/>
            <a:ext cx="7900416" cy="365760"/>
          </a:xfrm>
          <a:prstGeom prst="rect">
            <a:avLst/>
          </a:prstGeom>
          <a:noFill/>
          <a:ln/>
        </p:spPr>
        <p:txBody>
          <a:bodyPr wrap="square" rtlCol="0" anchor="ctr"/>
          <a:lstStyle/>
          <a:p>
            <a:pPr indent="0" marL="0">
              <a:buNone/>
            </a:pPr>
            <a:endParaRPr lang="en-US" sz="1500" dirty="0"/>
          </a:p>
        </p:txBody>
      </p:sp>
      <p:sp>
        <p:nvSpPr>
          <p:cNvPr id="8" name="Text 5"/>
          <p:cNvSpPr/>
          <p:nvPr/>
        </p:nvSpPr>
        <p:spPr>
          <a:xfrm>
            <a:off x="621792" y="4297680"/>
            <a:ext cx="7900416" cy="320040"/>
          </a:xfrm>
          <a:prstGeom prst="rect">
            <a:avLst/>
          </a:prstGeom>
          <a:noFill/>
          <a:ln/>
        </p:spPr>
        <p:txBody>
          <a:bodyPr wrap="square" rtlCol="0" anchor="t"/>
          <a:lstStyle/>
          <a:p>
            <a:pPr indent="0" marL="0">
              <a:buNone/>
            </a:pPr>
            <a:endParaRPr lang="en-US" sz="1150" dirty="0"/>
          </a:p>
        </p:txBody>
      </p:sp>
      <p:sp>
        <p:nvSpPr>
          <p:cNvPr id="9" name="Text 6"/>
          <p:cNvSpPr/>
          <p:nvPr/>
        </p:nvSpPr>
        <p:spPr>
          <a:xfrm>
            <a:off x="640080" y="3858768"/>
            <a:ext cx="7863840" cy="822960"/>
          </a:xfrm>
          <a:prstGeom prst="rect">
            <a:avLst/>
          </a:prstGeom>
          <a:noFill/>
          <a:ln/>
        </p:spPr>
        <p:txBody>
          <a:bodyPr wrap="square" rtlCol="0" anchor="ctr"/>
          <a:lstStyle/>
          <a:p>
            <a:pPr indent="0" marL="0">
              <a:buNone/>
            </a:pPr>
            <a:r>
              <a:rPr lang="en-US" sz="1200" b="1" dirty="0">
                <a:solidFill>
                  <a:srgbClr val="2B4C8C"/>
                </a:solidFill>
                <a:latin typeface="Arial" pitchFamily="34" charset="0"/>
                <a:ea typeface="Arial" pitchFamily="34" charset="-122"/>
                <a:cs typeface="Arial" pitchFamily="34" charset="-120"/>
              </a:rPr>
              <a:t>Conclusie: </a:t>
            </a:r>
            <a:pPr indent="0" marL="0">
              <a:buNone/>
            </a:pPr>
            <a:r>
              <a:rPr lang="en-US" sz="1200" dirty="0">
                <a:solidFill>
                  <a:srgbClr val="1E2430"/>
                </a:solidFill>
                <a:latin typeface="Arial" pitchFamily="34" charset="0"/>
                <a:ea typeface="Arial" pitchFamily="34" charset="-122"/>
                <a:cs typeface="Arial" pitchFamily="34" charset="-120"/>
              </a:rPr>
              <a:t>voor een schoolproject bouwden we een eigen, direct werkend CMS-dashboard. Dat bewijst precies de eis: een beheerder voegt content toe en de site haalt die op. Schalen naar een echte productiesite kan later met Strapi.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200" b="1" spc="300" kern="0" dirty="0">
                <a:solidFill>
                  <a:srgbClr val="E8703A"/>
                </a:solidFill>
                <a:latin typeface="Arial" pitchFamily="34" charset="0"/>
                <a:ea typeface="Arial" pitchFamily="34" charset="-122"/>
                <a:cs typeface="Arial" pitchFamily="34" charset="-120"/>
              </a:rPr>
              <a:t>TECHNISCHE KEUZE 2 &amp; 3</a:t>
            </a:r>
            <a:endParaRPr lang="en-US" sz="1200" dirty="0"/>
          </a:p>
        </p:txBody>
      </p:sp>
      <p:sp>
        <p:nvSpPr>
          <p:cNvPr id="3" name="Text 1"/>
          <p:cNvSpPr/>
          <p:nvPr/>
        </p:nvSpPr>
        <p:spPr>
          <a:xfrm>
            <a:off x="457200" y="548640"/>
            <a:ext cx="8229600" cy="548640"/>
          </a:xfrm>
          <a:prstGeom prst="rect">
            <a:avLst/>
          </a:prstGeom>
          <a:noFill/>
          <a:ln/>
        </p:spPr>
        <p:txBody>
          <a:bodyPr wrap="square" rtlCol="0" anchor="ctr"/>
          <a:lstStyle/>
          <a:p>
            <a:pPr indent="0" marL="0">
              <a:buNone/>
            </a:pPr>
            <a:r>
              <a:rPr lang="en-US" sz="2800" dirty="0">
                <a:solidFill>
                  <a:srgbClr val="2B4C8C"/>
                </a:solidFill>
                <a:latin typeface="Arial Black" pitchFamily="34" charset="0"/>
                <a:ea typeface="Arial Black" pitchFamily="34" charset="-122"/>
                <a:cs typeface="Arial Black" pitchFamily="34" charset="-120"/>
              </a:rPr>
              <a:t>Kaart en Instagram-koppeling</a:t>
            </a:r>
            <a:endParaRPr lang="en-US" sz="2800" dirty="0"/>
          </a:p>
        </p:txBody>
      </p:sp>
      <p:sp>
        <p:nvSpPr>
          <p:cNvPr id="4" name="Shape 2"/>
          <p:cNvSpPr/>
          <p:nvPr/>
        </p:nvSpPr>
        <p:spPr>
          <a:xfrm>
            <a:off x="457200" y="1325880"/>
            <a:ext cx="4023360" cy="3291840"/>
          </a:xfrm>
          <a:prstGeom prst="roundRect">
            <a:avLst>
              <a:gd name="adj" fmla="val 2222"/>
            </a:avLst>
          </a:prstGeom>
          <a:solidFill>
            <a:srgbClr val="F1F0EC"/>
          </a:solidFill>
          <a:ln/>
          <a:effectLst>
            <a:outerShdw sx="100000" sy="100000" kx="0" ky="0" algn="bl" rotWithShape="0" blurRad="101600" dist="25400" dir="8100000">
              <a:srgbClr val="2B4C8C">
                <a:alpha val="18000"/>
              </a:srgbClr>
            </a:outerShdw>
          </a:effectLst>
        </p:spPr>
      </p:sp>
      <p:sp>
        <p:nvSpPr>
          <p:cNvPr id="5" name="Text 3"/>
          <p:cNvSpPr/>
          <p:nvPr/>
        </p:nvSpPr>
        <p:spPr>
          <a:xfrm>
            <a:off x="621792" y="1463040"/>
            <a:ext cx="3694176" cy="365760"/>
          </a:xfrm>
          <a:prstGeom prst="rect">
            <a:avLst/>
          </a:prstGeom>
          <a:noFill/>
          <a:ln/>
        </p:spPr>
        <p:txBody>
          <a:bodyPr wrap="square" rtlCol="0" anchor="ctr"/>
          <a:lstStyle/>
          <a:p>
            <a:pPr indent="0" marL="0">
              <a:buNone/>
            </a:pPr>
            <a:r>
              <a:rPr lang="en-US" sz="1500" dirty="0">
                <a:solidFill>
                  <a:srgbClr val="2B4C8C"/>
                </a:solidFill>
                <a:latin typeface="Arial Black" pitchFamily="34" charset="0"/>
                <a:ea typeface="Arial Black" pitchFamily="34" charset="-122"/>
                <a:cs typeface="Arial Black" pitchFamily="34" charset="-120"/>
              </a:rPr>
              <a:t>KAART: LEAFLET</a:t>
            </a:r>
            <a:endParaRPr lang="en-US" sz="1500" dirty="0"/>
          </a:p>
        </p:txBody>
      </p:sp>
      <p:sp>
        <p:nvSpPr>
          <p:cNvPr id="6" name="Text 4"/>
          <p:cNvSpPr/>
          <p:nvPr/>
        </p:nvSpPr>
        <p:spPr>
          <a:xfrm>
            <a:off x="621792" y="1828800"/>
            <a:ext cx="3694176" cy="2651760"/>
          </a:xfrm>
          <a:prstGeom prst="rect">
            <a:avLst/>
          </a:prstGeom>
          <a:noFill/>
          <a:ln/>
        </p:spPr>
        <p:txBody>
          <a:bodyPr wrap="square" rtlCol="0" anchor="t"/>
          <a:lstStyle/>
          <a:p>
            <a:pPr indent="0" marL="0">
              <a:buNone/>
            </a:pPr>
            <a:endParaRPr lang="en-US" sz="1150" dirty="0"/>
          </a:p>
        </p:txBody>
      </p:sp>
      <p:sp>
        <p:nvSpPr>
          <p:cNvPr id="7" name="Text 5"/>
          <p:cNvSpPr/>
          <p:nvPr/>
        </p:nvSpPr>
        <p:spPr>
          <a:xfrm>
            <a:off x="640080" y="1828800"/>
            <a:ext cx="3657600" cy="2651760"/>
          </a:xfrm>
          <a:prstGeom prst="rect">
            <a:avLst/>
          </a:prstGeom>
          <a:noFill/>
          <a:ln/>
        </p:spPr>
        <p:txBody>
          <a:bodyPr wrap="square" rtlCol="0" anchor="t"/>
          <a:lstStyle/>
          <a:p>
            <a:pPr marL="342900" indent="-342900">
              <a:spcAft>
                <a:spcPts val="800"/>
              </a:spcAft>
              <a:buSzPct val="100000"/>
              <a:buChar char="•"/>
            </a:pPr>
            <a:r>
              <a:rPr lang="en-US" sz="1200" dirty="0">
                <a:solidFill>
                  <a:srgbClr val="1E2430"/>
                </a:solidFill>
                <a:latin typeface="Arial" pitchFamily="34" charset="0"/>
                <a:ea typeface="Arial" pitchFamily="34" charset="-122"/>
                <a:cs typeface="Arial" pitchFamily="34" charset="-120"/>
              </a:rPr>
              <a:t>Gratis en open source — geen API-key of account nodig (Mapbox wel)</a:t>
            </a:r>
            <a:endParaRPr lang="en-US" sz="1200" dirty="0"/>
          </a:p>
          <a:p>
            <a:pPr marL="342900" indent="-342900">
              <a:spcAft>
                <a:spcPts val="800"/>
              </a:spcAft>
              <a:buSzPct val="100000"/>
              <a:buChar char="•"/>
            </a:pPr>
            <a:r>
              <a:rPr lang="en-US" sz="1200" dirty="0">
                <a:solidFill>
                  <a:srgbClr val="1E2430"/>
                </a:solidFill>
                <a:latin typeface="Arial" pitchFamily="34" charset="0"/>
                <a:ea typeface="Arial" pitchFamily="34" charset="-122"/>
                <a:cs typeface="Arial" pitchFamily="34" charset="-120"/>
              </a:rPr>
              <a:t>Alles wat wij nodig hebben zit erin: markers, popups en filters</a:t>
            </a:r>
            <a:endParaRPr lang="en-US" sz="1200" dirty="0"/>
          </a:p>
          <a:p>
            <a:pPr marL="342900" indent="-342900">
              <a:spcAft>
                <a:spcPts val="800"/>
              </a:spcAft>
              <a:buSzPct val="100000"/>
              <a:buChar char="•"/>
            </a:pPr>
            <a:r>
              <a:rPr lang="en-US" sz="1200" dirty="0">
                <a:solidFill>
                  <a:srgbClr val="1E2430"/>
                </a:solidFill>
                <a:latin typeface="Arial" pitchFamily="34" charset="0"/>
                <a:ea typeface="Arial" pitchFamily="34" charset="-122"/>
                <a:cs typeface="Arial" pitchFamily="34" charset="-120"/>
              </a:rPr>
              <a:t>Coördinaten komen uit het CMS — niets is hardcoded</a:t>
            </a:r>
            <a:endParaRPr lang="en-US" sz="1200" dirty="0"/>
          </a:p>
          <a:p>
            <a:pPr marL="342900" indent="-342900">
              <a:spcAft>
                <a:spcPts val="800"/>
              </a:spcAft>
              <a:buSzPct val="100000"/>
              <a:buChar char="•"/>
            </a:pPr>
            <a:r>
              <a:rPr lang="en-US" sz="1200" dirty="0">
                <a:solidFill>
                  <a:srgbClr val="1E2430"/>
                </a:solidFill>
                <a:latin typeface="Arial" pitchFamily="34" charset="0"/>
                <a:ea typeface="Arial" pitchFamily="34" charset="-122"/>
                <a:cs typeface="Arial" pitchFamily="34" charset="-120"/>
              </a:rPr>
              <a:t>Mapbox biedt vooral extra's (3D, eigen kaartstijlen) die wij niet nodig hebben</a:t>
            </a:r>
            <a:endParaRPr lang="en-US" sz="1200" dirty="0"/>
          </a:p>
        </p:txBody>
      </p:sp>
      <p:sp>
        <p:nvSpPr>
          <p:cNvPr id="8" name="Shape 6"/>
          <p:cNvSpPr/>
          <p:nvPr/>
        </p:nvSpPr>
        <p:spPr>
          <a:xfrm>
            <a:off x="4663440" y="1325880"/>
            <a:ext cx="4023360" cy="3291840"/>
          </a:xfrm>
          <a:prstGeom prst="roundRect">
            <a:avLst>
              <a:gd name="adj" fmla="val 2222"/>
            </a:avLst>
          </a:prstGeom>
          <a:solidFill>
            <a:srgbClr val="CFE0E8"/>
          </a:solidFill>
          <a:ln/>
          <a:effectLst>
            <a:outerShdw sx="100000" sy="100000" kx="0" ky="0" algn="bl" rotWithShape="0" blurRad="101600" dist="25400" dir="8100000">
              <a:srgbClr val="2B4C8C">
                <a:alpha val="18000"/>
              </a:srgbClr>
            </a:outerShdw>
          </a:effectLst>
        </p:spPr>
      </p:sp>
      <p:sp>
        <p:nvSpPr>
          <p:cNvPr id="9" name="Text 7"/>
          <p:cNvSpPr/>
          <p:nvPr/>
        </p:nvSpPr>
        <p:spPr>
          <a:xfrm>
            <a:off x="4828032" y="1463040"/>
            <a:ext cx="3694176" cy="365760"/>
          </a:xfrm>
          <a:prstGeom prst="rect">
            <a:avLst/>
          </a:prstGeom>
          <a:noFill/>
          <a:ln/>
        </p:spPr>
        <p:txBody>
          <a:bodyPr wrap="square" rtlCol="0" anchor="ctr"/>
          <a:lstStyle/>
          <a:p>
            <a:pPr indent="0" marL="0">
              <a:buNone/>
            </a:pPr>
            <a:r>
              <a:rPr lang="en-US" sz="1500" dirty="0">
                <a:solidFill>
                  <a:srgbClr val="2B4C8C"/>
                </a:solidFill>
                <a:latin typeface="Arial Black" pitchFamily="34" charset="0"/>
                <a:ea typeface="Arial Black" pitchFamily="34" charset="-122"/>
                <a:cs typeface="Arial Black" pitchFamily="34" charset="-120"/>
              </a:rPr>
              <a:t>INSTAGRAM: BEHOLD.SO</a:t>
            </a:r>
            <a:endParaRPr lang="en-US" sz="1500" dirty="0"/>
          </a:p>
        </p:txBody>
      </p:sp>
      <p:sp>
        <p:nvSpPr>
          <p:cNvPr id="10" name="Text 8"/>
          <p:cNvSpPr/>
          <p:nvPr/>
        </p:nvSpPr>
        <p:spPr>
          <a:xfrm>
            <a:off x="4828032" y="1828800"/>
            <a:ext cx="3694176" cy="2651760"/>
          </a:xfrm>
          <a:prstGeom prst="rect">
            <a:avLst/>
          </a:prstGeom>
          <a:noFill/>
          <a:ln/>
        </p:spPr>
        <p:txBody>
          <a:bodyPr wrap="square" rtlCol="0" anchor="t"/>
          <a:lstStyle/>
          <a:p>
            <a:pPr indent="0" marL="0">
              <a:buNone/>
            </a:pPr>
            <a:endParaRPr lang="en-US" sz="1150" dirty="0"/>
          </a:p>
        </p:txBody>
      </p:sp>
      <p:sp>
        <p:nvSpPr>
          <p:cNvPr id="11" name="Text 9"/>
          <p:cNvSpPr/>
          <p:nvPr/>
        </p:nvSpPr>
        <p:spPr>
          <a:xfrm>
            <a:off x="4846320" y="1828800"/>
            <a:ext cx="3657600" cy="2651760"/>
          </a:xfrm>
          <a:prstGeom prst="rect">
            <a:avLst/>
          </a:prstGeom>
          <a:noFill/>
          <a:ln/>
        </p:spPr>
        <p:txBody>
          <a:bodyPr wrap="square" rtlCol="0" anchor="t"/>
          <a:lstStyle/>
          <a:p>
            <a:pPr marL="342900" indent="-342900">
              <a:spcAft>
                <a:spcPts val="800"/>
              </a:spcAft>
              <a:buSzPct val="100000"/>
              <a:buChar char="•"/>
            </a:pPr>
            <a:r>
              <a:rPr lang="en-US" sz="1200" dirty="0">
                <a:solidFill>
                  <a:srgbClr val="1E2430"/>
                </a:solidFill>
                <a:latin typeface="Arial" pitchFamily="34" charset="0"/>
                <a:ea typeface="Arial" pitchFamily="34" charset="-122"/>
                <a:cs typeface="Arial" pitchFamily="34" charset="-120"/>
              </a:rPr>
              <a:t>Gebruikt onder water de officiële Meta Graph API</a:t>
            </a:r>
            <a:endParaRPr lang="en-US" sz="1200" dirty="0"/>
          </a:p>
          <a:p>
            <a:pPr marL="342900" indent="-342900">
              <a:spcAft>
                <a:spcPts val="800"/>
              </a:spcAft>
              <a:buSzPct val="100000"/>
              <a:buChar char="•"/>
            </a:pPr>
            <a:r>
              <a:rPr lang="en-US" sz="1200" dirty="0">
                <a:solidFill>
                  <a:srgbClr val="1E2430"/>
                </a:solidFill>
                <a:latin typeface="Arial" pitchFamily="34" charset="0"/>
                <a:ea typeface="Arial" pitchFamily="34" charset="-122"/>
                <a:cs typeface="Arial" pitchFamily="34" charset="-120"/>
              </a:rPr>
              <a:t>Regelt de lastige kant (tokens die elke 60 dagen verlopen) automatisch</a:t>
            </a:r>
            <a:endParaRPr lang="en-US" sz="1200" dirty="0"/>
          </a:p>
          <a:p>
            <a:pPr marL="342900" indent="-342900">
              <a:spcAft>
                <a:spcPts val="800"/>
              </a:spcAft>
              <a:buSzPct val="100000"/>
              <a:buChar char="•"/>
            </a:pPr>
            <a:r>
              <a:rPr lang="en-US" sz="1200" dirty="0">
                <a:solidFill>
                  <a:srgbClr val="1E2430"/>
                </a:solidFill>
                <a:latin typeface="Arial" pitchFamily="34" charset="0"/>
                <a:ea typeface="Arial" pitchFamily="34" charset="-122"/>
                <a:cs typeface="Arial" pitchFamily="34" charset="-120"/>
              </a:rPr>
              <a:t>Geeft een simpele JSON-feed die we zelf stylen in onze eigen huisstijl</a:t>
            </a:r>
            <a:endParaRPr lang="en-US" sz="1200" dirty="0"/>
          </a:p>
          <a:p>
            <a:pPr marL="342900" indent="-342900">
              <a:spcAft>
                <a:spcPts val="800"/>
              </a:spcAft>
              <a:buSzPct val="100000"/>
              <a:buChar char="•"/>
            </a:pPr>
            <a:r>
              <a:rPr lang="en-US" sz="1200" dirty="0">
                <a:solidFill>
                  <a:srgbClr val="1E2430"/>
                </a:solidFill>
                <a:latin typeface="Arial" pitchFamily="34" charset="0"/>
                <a:ea typeface="Arial" pitchFamily="34" charset="-122"/>
                <a:cs typeface="Arial" pitchFamily="34" charset="-120"/>
              </a:rPr>
              <a:t>Écht dynamisch: nieuwe Instagram-post = automatisch op de site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200" b="1" spc="300" kern="0" dirty="0">
                <a:solidFill>
                  <a:srgbClr val="E8703A"/>
                </a:solidFill>
                <a:latin typeface="Arial" pitchFamily="34" charset="0"/>
                <a:ea typeface="Arial" pitchFamily="34" charset="-122"/>
                <a:cs typeface="Arial" pitchFamily="34" charset="-120"/>
              </a:rPr>
              <a:t>HET CMS IN ACTIE</a:t>
            </a:r>
            <a:endParaRPr lang="en-US" sz="1200" dirty="0"/>
          </a:p>
        </p:txBody>
      </p:sp>
      <p:sp>
        <p:nvSpPr>
          <p:cNvPr id="3" name="Text 1"/>
          <p:cNvSpPr/>
          <p:nvPr/>
        </p:nvSpPr>
        <p:spPr>
          <a:xfrm>
            <a:off x="457200" y="548640"/>
            <a:ext cx="8229600" cy="548640"/>
          </a:xfrm>
          <a:prstGeom prst="rect">
            <a:avLst/>
          </a:prstGeom>
          <a:noFill/>
          <a:ln/>
        </p:spPr>
        <p:txBody>
          <a:bodyPr wrap="square" rtlCol="0" anchor="ctr"/>
          <a:lstStyle/>
          <a:p>
            <a:pPr indent="0" marL="0">
              <a:buNone/>
            </a:pPr>
            <a:r>
              <a:rPr lang="en-US" sz="2800" dirty="0">
                <a:solidFill>
                  <a:srgbClr val="2B4C8C"/>
                </a:solidFill>
                <a:latin typeface="Arial Black" pitchFamily="34" charset="0"/>
                <a:ea typeface="Arial Black" pitchFamily="34" charset="-122"/>
                <a:cs typeface="Arial Black" pitchFamily="34" charset="-120"/>
              </a:rPr>
              <a:t>Eigen beheerdashboard</a:t>
            </a:r>
            <a:endParaRPr lang="en-US" sz="2800" dirty="0"/>
          </a:p>
        </p:txBody>
      </p:sp>
      <p:sp>
        <p:nvSpPr>
          <p:cNvPr id="4" name="Text 2"/>
          <p:cNvSpPr/>
          <p:nvPr/>
        </p:nvSpPr>
        <p:spPr>
          <a:xfrm>
            <a:off x="457200" y="1234440"/>
            <a:ext cx="8229600" cy="457200"/>
          </a:xfrm>
          <a:prstGeom prst="rect">
            <a:avLst/>
          </a:prstGeom>
          <a:noFill/>
          <a:ln/>
        </p:spPr>
        <p:txBody>
          <a:bodyPr wrap="square" rtlCol="0" anchor="ctr"/>
          <a:lstStyle/>
          <a:p>
            <a:pPr indent="0" marL="0">
              <a:buNone/>
            </a:pPr>
            <a:r>
              <a:rPr lang="en-US" sz="1400" dirty="0">
                <a:solidFill>
                  <a:srgbClr val="1E2430"/>
                </a:solidFill>
                <a:latin typeface="Arial" pitchFamily="34" charset="0"/>
                <a:ea typeface="Arial" pitchFamily="34" charset="-122"/>
                <a:cs typeface="Arial" pitchFamily="34" charset="-120"/>
              </a:rPr>
              <a:t>Een content creator beheert de hele site zonder ook maar één regel code aan te raken:</a:t>
            </a:r>
            <a:endParaRPr lang="en-US" sz="1400" dirty="0"/>
          </a:p>
        </p:txBody>
      </p:sp>
      <p:sp>
        <p:nvSpPr>
          <p:cNvPr id="5" name="Shape 3"/>
          <p:cNvSpPr/>
          <p:nvPr/>
        </p:nvSpPr>
        <p:spPr>
          <a:xfrm>
            <a:off x="457200" y="1828800"/>
            <a:ext cx="4023360" cy="2834640"/>
          </a:xfrm>
          <a:prstGeom prst="roundRect">
            <a:avLst>
              <a:gd name="adj" fmla="val 2581"/>
            </a:avLst>
          </a:prstGeom>
          <a:solidFill>
            <a:srgbClr val="F1F0EC"/>
          </a:solidFill>
          <a:ln/>
          <a:effectLst>
            <a:outerShdw sx="100000" sy="100000" kx="0" ky="0" algn="bl" rotWithShape="0" blurRad="101600" dist="25400" dir="8100000">
              <a:srgbClr val="2B4C8C">
                <a:alpha val="18000"/>
              </a:srgbClr>
            </a:outerShdw>
          </a:effectLst>
        </p:spPr>
      </p:sp>
      <p:sp>
        <p:nvSpPr>
          <p:cNvPr id="6" name="Text 4"/>
          <p:cNvSpPr/>
          <p:nvPr/>
        </p:nvSpPr>
        <p:spPr>
          <a:xfrm>
            <a:off x="621792" y="1965960"/>
            <a:ext cx="3694176" cy="365760"/>
          </a:xfrm>
          <a:prstGeom prst="rect">
            <a:avLst/>
          </a:prstGeom>
          <a:noFill/>
          <a:ln/>
        </p:spPr>
        <p:txBody>
          <a:bodyPr wrap="square" rtlCol="0" anchor="ctr"/>
          <a:lstStyle/>
          <a:p>
            <a:pPr indent="0" marL="0">
              <a:buNone/>
            </a:pPr>
            <a:r>
              <a:rPr lang="en-US" sz="1500" dirty="0">
                <a:solidFill>
                  <a:srgbClr val="2B4C8C"/>
                </a:solidFill>
                <a:latin typeface="Arial Black" pitchFamily="34" charset="0"/>
                <a:ea typeface="Arial Black" pitchFamily="34" charset="-122"/>
                <a:cs typeface="Arial Black" pitchFamily="34" charset="-120"/>
              </a:rPr>
              <a:t>BLOGPOSTS BEHEREN</a:t>
            </a:r>
            <a:endParaRPr lang="en-US" sz="1500" dirty="0"/>
          </a:p>
        </p:txBody>
      </p:sp>
      <p:sp>
        <p:nvSpPr>
          <p:cNvPr id="7" name="Text 5"/>
          <p:cNvSpPr/>
          <p:nvPr/>
        </p:nvSpPr>
        <p:spPr>
          <a:xfrm>
            <a:off x="621792" y="2331720"/>
            <a:ext cx="3694176" cy="2194560"/>
          </a:xfrm>
          <a:prstGeom prst="rect">
            <a:avLst/>
          </a:prstGeom>
          <a:noFill/>
          <a:ln/>
        </p:spPr>
        <p:txBody>
          <a:bodyPr wrap="square" rtlCol="0" anchor="t"/>
          <a:lstStyle/>
          <a:p>
            <a:pPr indent="0" marL="0">
              <a:buNone/>
            </a:pPr>
            <a:endParaRPr lang="en-US" sz="1150" dirty="0"/>
          </a:p>
        </p:txBody>
      </p:sp>
      <p:sp>
        <p:nvSpPr>
          <p:cNvPr id="8" name="Text 6"/>
          <p:cNvSpPr/>
          <p:nvPr/>
        </p:nvSpPr>
        <p:spPr>
          <a:xfrm>
            <a:off x="640080" y="2331720"/>
            <a:ext cx="3657600" cy="2194560"/>
          </a:xfrm>
          <a:prstGeom prst="rect">
            <a:avLst/>
          </a:prstGeom>
          <a:noFill/>
          <a:ln/>
        </p:spPr>
        <p:txBody>
          <a:bodyPr wrap="square" rtlCol="0" anchor="t"/>
          <a:lstStyle/>
          <a:p>
            <a:pPr marL="342900" indent="-342900">
              <a:spcAft>
                <a:spcPts val="900"/>
              </a:spcAft>
              <a:buSzPct val="100000"/>
              <a:buChar char="•"/>
            </a:pPr>
            <a:r>
              <a:rPr lang="en-US" sz="1250" dirty="0">
                <a:solidFill>
                  <a:srgbClr val="1E2430"/>
                </a:solidFill>
                <a:latin typeface="Arial" pitchFamily="34" charset="0"/>
                <a:ea typeface="Arial" pitchFamily="34" charset="-122"/>
                <a:cs typeface="Arial" pitchFamily="34" charset="-120"/>
              </a:rPr>
              <a:t>Nieuwe dagverslagen toevoegen</a:t>
            </a:r>
            <a:endParaRPr lang="en-US" sz="1250" dirty="0"/>
          </a:p>
          <a:p>
            <a:pPr marL="342900" indent="-342900">
              <a:spcAft>
                <a:spcPts val="900"/>
              </a:spcAft>
              <a:buSzPct val="100000"/>
              <a:buChar char="•"/>
            </a:pPr>
            <a:r>
              <a:rPr lang="en-US" sz="1250" dirty="0">
                <a:solidFill>
                  <a:srgbClr val="1E2430"/>
                </a:solidFill>
                <a:latin typeface="Arial" pitchFamily="34" charset="0"/>
                <a:ea typeface="Arial" pitchFamily="34" charset="-122"/>
                <a:cs typeface="Arial" pitchFamily="34" charset="-120"/>
              </a:rPr>
              <a:t>Titel, tekst en dag invullen</a:t>
            </a:r>
            <a:endParaRPr lang="en-US" sz="1250" dirty="0"/>
          </a:p>
          <a:p>
            <a:pPr marL="342900" indent="-342900">
              <a:spcAft>
                <a:spcPts val="900"/>
              </a:spcAft>
              <a:buSzPct val="100000"/>
              <a:buChar char="•"/>
            </a:pPr>
            <a:r>
              <a:rPr lang="en-US" sz="1250" dirty="0">
                <a:solidFill>
                  <a:srgbClr val="1E2430"/>
                </a:solidFill>
                <a:latin typeface="Arial" pitchFamily="34" charset="0"/>
                <a:ea typeface="Arial" pitchFamily="34" charset="-122"/>
                <a:cs typeface="Arial" pitchFamily="34" charset="-120"/>
              </a:rPr>
              <a:t>Foto's uploaden vanaf je computer</a:t>
            </a:r>
            <a:endParaRPr lang="en-US" sz="1250" dirty="0"/>
          </a:p>
          <a:p>
            <a:pPr marL="342900" indent="-342900">
              <a:spcAft>
                <a:spcPts val="900"/>
              </a:spcAft>
              <a:buSzPct val="100000"/>
              <a:buChar char="•"/>
            </a:pPr>
            <a:r>
              <a:rPr lang="en-US" sz="1250" dirty="0">
                <a:solidFill>
                  <a:srgbClr val="1E2430"/>
                </a:solidFill>
                <a:latin typeface="Arial" pitchFamily="34" charset="0"/>
                <a:ea typeface="Arial" pitchFamily="34" charset="-122"/>
                <a:cs typeface="Arial" pitchFamily="34" charset="-120"/>
              </a:rPr>
              <a:t>Posts bewerken of verwijderen</a:t>
            </a:r>
            <a:endParaRPr lang="en-US" sz="1250" dirty="0"/>
          </a:p>
        </p:txBody>
      </p:sp>
      <p:sp>
        <p:nvSpPr>
          <p:cNvPr id="9" name="Shape 7"/>
          <p:cNvSpPr/>
          <p:nvPr/>
        </p:nvSpPr>
        <p:spPr>
          <a:xfrm>
            <a:off x="4663440" y="1828800"/>
            <a:ext cx="4023360" cy="2834640"/>
          </a:xfrm>
          <a:prstGeom prst="roundRect">
            <a:avLst>
              <a:gd name="adj" fmla="val 2581"/>
            </a:avLst>
          </a:prstGeom>
          <a:solidFill>
            <a:srgbClr val="CFE0E8"/>
          </a:solidFill>
          <a:ln/>
          <a:effectLst>
            <a:outerShdw sx="100000" sy="100000" kx="0" ky="0" algn="bl" rotWithShape="0" blurRad="101600" dist="25400" dir="8100000">
              <a:srgbClr val="2B4C8C">
                <a:alpha val="18000"/>
              </a:srgbClr>
            </a:outerShdw>
          </a:effectLst>
        </p:spPr>
      </p:sp>
      <p:sp>
        <p:nvSpPr>
          <p:cNvPr id="10" name="Text 8"/>
          <p:cNvSpPr/>
          <p:nvPr/>
        </p:nvSpPr>
        <p:spPr>
          <a:xfrm>
            <a:off x="4828032" y="1965960"/>
            <a:ext cx="3694176" cy="365760"/>
          </a:xfrm>
          <a:prstGeom prst="rect">
            <a:avLst/>
          </a:prstGeom>
          <a:noFill/>
          <a:ln/>
        </p:spPr>
        <p:txBody>
          <a:bodyPr wrap="square" rtlCol="0" anchor="ctr"/>
          <a:lstStyle/>
          <a:p>
            <a:pPr indent="0" marL="0">
              <a:buNone/>
            </a:pPr>
            <a:r>
              <a:rPr lang="en-US" sz="1500" dirty="0">
                <a:solidFill>
                  <a:srgbClr val="2B4C8C"/>
                </a:solidFill>
                <a:latin typeface="Arial Black" pitchFamily="34" charset="0"/>
                <a:ea typeface="Arial Black" pitchFamily="34" charset="-122"/>
                <a:cs typeface="Arial Black" pitchFamily="34" charset="-120"/>
              </a:rPr>
              <a:t>LOCATIES BEHEREN</a:t>
            </a:r>
            <a:endParaRPr lang="en-US" sz="1500" dirty="0"/>
          </a:p>
        </p:txBody>
      </p:sp>
      <p:sp>
        <p:nvSpPr>
          <p:cNvPr id="11" name="Text 9"/>
          <p:cNvSpPr/>
          <p:nvPr/>
        </p:nvSpPr>
        <p:spPr>
          <a:xfrm>
            <a:off x="4828032" y="2331720"/>
            <a:ext cx="3694176" cy="2194560"/>
          </a:xfrm>
          <a:prstGeom prst="rect">
            <a:avLst/>
          </a:prstGeom>
          <a:noFill/>
          <a:ln/>
        </p:spPr>
        <p:txBody>
          <a:bodyPr wrap="square" rtlCol="0" anchor="t"/>
          <a:lstStyle/>
          <a:p>
            <a:pPr indent="0" marL="0">
              <a:buNone/>
            </a:pPr>
            <a:endParaRPr lang="en-US" sz="1150" dirty="0"/>
          </a:p>
        </p:txBody>
      </p:sp>
      <p:sp>
        <p:nvSpPr>
          <p:cNvPr id="12" name="Text 10"/>
          <p:cNvSpPr/>
          <p:nvPr/>
        </p:nvSpPr>
        <p:spPr>
          <a:xfrm>
            <a:off x="4846320" y="2331720"/>
            <a:ext cx="3657600" cy="2194560"/>
          </a:xfrm>
          <a:prstGeom prst="rect">
            <a:avLst/>
          </a:prstGeom>
          <a:noFill/>
          <a:ln/>
        </p:spPr>
        <p:txBody>
          <a:bodyPr wrap="square" rtlCol="0" anchor="t"/>
          <a:lstStyle/>
          <a:p>
            <a:pPr marL="342900" indent="-342900">
              <a:spcAft>
                <a:spcPts val="900"/>
              </a:spcAft>
              <a:buSzPct val="100000"/>
              <a:buChar char="•"/>
            </a:pPr>
            <a:r>
              <a:rPr lang="en-US" sz="1250" dirty="0">
                <a:solidFill>
                  <a:srgbClr val="1E2430"/>
                </a:solidFill>
                <a:latin typeface="Arial" pitchFamily="34" charset="0"/>
                <a:ea typeface="Arial" pitchFamily="34" charset="-122"/>
                <a:cs typeface="Arial" pitchFamily="34" charset="-120"/>
              </a:rPr>
              <a:t>Locaties toevoegen met naam en coördinaten</a:t>
            </a:r>
            <a:endParaRPr lang="en-US" sz="1250" dirty="0"/>
          </a:p>
          <a:p>
            <a:pPr marL="342900" indent="-342900">
              <a:spcAft>
                <a:spcPts val="900"/>
              </a:spcAft>
              <a:buSzPct val="100000"/>
              <a:buChar char="•"/>
            </a:pPr>
            <a:r>
              <a:rPr lang="en-US" sz="1250" dirty="0">
                <a:solidFill>
                  <a:srgbClr val="1E2430"/>
                </a:solidFill>
                <a:latin typeface="Arial" pitchFamily="34" charset="0"/>
                <a:ea typeface="Arial" pitchFamily="34" charset="-122"/>
                <a:cs typeface="Arial" pitchFamily="34" charset="-120"/>
              </a:rPr>
              <a:t>Categorie kiezen (museum, street art…)</a:t>
            </a:r>
            <a:endParaRPr lang="en-US" sz="1250" dirty="0"/>
          </a:p>
          <a:p>
            <a:pPr marL="342900" indent="-342900">
              <a:spcAft>
                <a:spcPts val="900"/>
              </a:spcAft>
              <a:buSzPct val="100000"/>
              <a:buChar char="•"/>
            </a:pPr>
            <a:r>
              <a:rPr lang="en-US" sz="1250" dirty="0">
                <a:solidFill>
                  <a:srgbClr val="1E2430"/>
                </a:solidFill>
                <a:latin typeface="Arial" pitchFamily="34" charset="0"/>
                <a:ea typeface="Arial" pitchFamily="34" charset="-122"/>
                <a:cs typeface="Arial" pitchFamily="34" charset="-120"/>
              </a:rPr>
              <a:t>Verschijnt direct als marker op de kaart</a:t>
            </a:r>
            <a:endParaRPr lang="en-US" sz="1250" dirty="0"/>
          </a:p>
          <a:p>
            <a:pPr marL="342900" indent="-342900">
              <a:spcAft>
                <a:spcPts val="900"/>
              </a:spcAft>
              <a:buSzPct val="100000"/>
              <a:buChar char="•"/>
            </a:pPr>
            <a:r>
              <a:rPr lang="en-US" sz="1250" dirty="0">
                <a:solidFill>
                  <a:srgbClr val="1E2430"/>
                </a:solidFill>
                <a:latin typeface="Arial" pitchFamily="34" charset="0"/>
                <a:ea typeface="Arial" pitchFamily="34" charset="-122"/>
                <a:cs typeface="Arial" pitchFamily="34" charset="-120"/>
              </a:rPr>
              <a:t>Wijzigingen zijn meteen live op de site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200" b="1" spc="300" kern="0" dirty="0">
                <a:solidFill>
                  <a:srgbClr val="E8703A"/>
                </a:solidFill>
                <a:latin typeface="Arial" pitchFamily="34" charset="0"/>
                <a:ea typeface="Arial" pitchFamily="34" charset="-122"/>
                <a:cs typeface="Arial" pitchFamily="34" charset="-120"/>
              </a:rPr>
              <a:t>PROOF OF CONCEPT</a:t>
            </a:r>
            <a:endParaRPr lang="en-US" sz="1200" dirty="0"/>
          </a:p>
        </p:txBody>
      </p:sp>
      <p:sp>
        <p:nvSpPr>
          <p:cNvPr id="3" name="Text 1"/>
          <p:cNvSpPr/>
          <p:nvPr/>
        </p:nvSpPr>
        <p:spPr>
          <a:xfrm>
            <a:off x="457200" y="548640"/>
            <a:ext cx="8229600" cy="548640"/>
          </a:xfrm>
          <a:prstGeom prst="rect">
            <a:avLst/>
          </a:prstGeom>
          <a:noFill/>
          <a:ln/>
        </p:spPr>
        <p:txBody>
          <a:bodyPr wrap="square" rtlCol="0" anchor="ctr"/>
          <a:lstStyle/>
          <a:p>
            <a:pPr indent="0" marL="0">
              <a:buNone/>
            </a:pPr>
            <a:r>
              <a:rPr lang="en-US" sz="2800" dirty="0">
                <a:solidFill>
                  <a:srgbClr val="2B4C8C"/>
                </a:solidFill>
                <a:latin typeface="Arial Black" pitchFamily="34" charset="0"/>
                <a:ea typeface="Arial Black" pitchFamily="34" charset="-122"/>
                <a:cs typeface="Arial Black" pitchFamily="34" charset="-120"/>
              </a:rPr>
              <a:t>Het werkt — drie demo's in één site</a:t>
            </a:r>
            <a:endParaRPr lang="en-US" sz="2800" dirty="0"/>
          </a:p>
        </p:txBody>
      </p:sp>
      <p:sp>
        <p:nvSpPr>
          <p:cNvPr id="4" name="Shape 2"/>
          <p:cNvSpPr/>
          <p:nvPr/>
        </p:nvSpPr>
        <p:spPr>
          <a:xfrm>
            <a:off x="457200" y="1371600"/>
            <a:ext cx="2651760" cy="1920240"/>
          </a:xfrm>
          <a:prstGeom prst="roundRect">
            <a:avLst>
              <a:gd name="adj" fmla="val 3333"/>
            </a:avLst>
          </a:prstGeom>
          <a:solidFill>
            <a:srgbClr val="2B4C8C"/>
          </a:solidFill>
          <a:ln/>
          <a:effectLst>
            <a:outerShdw sx="100000" sy="100000" kx="0" ky="0" algn="bl" rotWithShape="0" blurRad="101600" dist="25400" dir="8100000">
              <a:srgbClr val="2B4C8C">
                <a:alpha val="18000"/>
              </a:srgbClr>
            </a:outerShdw>
          </a:effectLst>
        </p:spPr>
      </p:sp>
      <p:sp>
        <p:nvSpPr>
          <p:cNvPr id="5" name="Text 3"/>
          <p:cNvSpPr/>
          <p:nvPr/>
        </p:nvSpPr>
        <p:spPr>
          <a:xfrm>
            <a:off x="621792" y="1508760"/>
            <a:ext cx="2331720" cy="365760"/>
          </a:xfrm>
          <a:prstGeom prst="rect">
            <a:avLst/>
          </a:prstGeom>
          <a:noFill/>
          <a:ln/>
        </p:spPr>
        <p:txBody>
          <a:bodyPr wrap="square" rtlCol="0" anchor="ctr"/>
          <a:lstStyle/>
          <a:p>
            <a:pPr indent="0" marL="0">
              <a:buNone/>
            </a:pPr>
            <a:r>
              <a:rPr lang="en-US" sz="1300" dirty="0">
                <a:solidFill>
                  <a:srgbClr val="F2C744"/>
                </a:solidFill>
                <a:latin typeface="Arial Black" pitchFamily="34" charset="0"/>
                <a:ea typeface="Arial Black" pitchFamily="34" charset="-122"/>
                <a:cs typeface="Arial Black" pitchFamily="34" charset="-120"/>
              </a:rPr>
              <a:t>PoC 1 — CMS</a:t>
            </a:r>
            <a:endParaRPr lang="en-US" sz="1300" dirty="0"/>
          </a:p>
        </p:txBody>
      </p:sp>
      <p:sp>
        <p:nvSpPr>
          <p:cNvPr id="6" name="Text 4"/>
          <p:cNvSpPr/>
          <p:nvPr/>
        </p:nvSpPr>
        <p:spPr>
          <a:xfrm>
            <a:off x="621792" y="1920240"/>
            <a:ext cx="2331720" cy="1280160"/>
          </a:xfrm>
          <a:prstGeom prst="rect">
            <a:avLst/>
          </a:prstGeom>
          <a:noFill/>
          <a:ln/>
        </p:spPr>
        <p:txBody>
          <a:bodyPr wrap="square" rtlCol="0" anchor="t"/>
          <a:lstStyle/>
          <a:p>
            <a:pPr indent="0" marL="0">
              <a:buNone/>
            </a:pPr>
            <a:r>
              <a:rPr lang="en-US" sz="1100" dirty="0">
                <a:solidFill>
                  <a:srgbClr val="E8EEF8"/>
                </a:solidFill>
                <a:latin typeface="Arial" pitchFamily="34" charset="0"/>
                <a:ea typeface="Arial" pitchFamily="34" charset="-122"/>
                <a:cs typeface="Arial" pitchFamily="34" charset="-120"/>
              </a:rPr>
              <a:t>De website haalt blogposts en locaties op uit het CMS. Via ons eigen dashboard voegt een content creator posts en foto's toe, zonder code.</a:t>
            </a:r>
            <a:endParaRPr lang="en-US" sz="1100" dirty="0"/>
          </a:p>
        </p:txBody>
      </p:sp>
      <p:sp>
        <p:nvSpPr>
          <p:cNvPr id="7" name="Shape 5"/>
          <p:cNvSpPr/>
          <p:nvPr/>
        </p:nvSpPr>
        <p:spPr>
          <a:xfrm>
            <a:off x="3291840" y="1371600"/>
            <a:ext cx="2651760" cy="1920240"/>
          </a:xfrm>
          <a:prstGeom prst="roundRect">
            <a:avLst>
              <a:gd name="adj" fmla="val 3333"/>
            </a:avLst>
          </a:prstGeom>
          <a:solidFill>
            <a:srgbClr val="2B4C8C"/>
          </a:solidFill>
          <a:ln/>
          <a:effectLst>
            <a:outerShdw sx="100000" sy="100000" kx="0" ky="0" algn="bl" rotWithShape="0" blurRad="101600" dist="25400" dir="8100000">
              <a:srgbClr val="2B4C8C">
                <a:alpha val="18000"/>
              </a:srgbClr>
            </a:outerShdw>
          </a:effectLst>
        </p:spPr>
      </p:sp>
      <p:sp>
        <p:nvSpPr>
          <p:cNvPr id="8" name="Text 6"/>
          <p:cNvSpPr/>
          <p:nvPr/>
        </p:nvSpPr>
        <p:spPr>
          <a:xfrm>
            <a:off x="3456432" y="1508760"/>
            <a:ext cx="2331720" cy="365760"/>
          </a:xfrm>
          <a:prstGeom prst="rect">
            <a:avLst/>
          </a:prstGeom>
          <a:noFill/>
          <a:ln/>
        </p:spPr>
        <p:txBody>
          <a:bodyPr wrap="square" rtlCol="0" anchor="ctr"/>
          <a:lstStyle/>
          <a:p>
            <a:pPr indent="0" marL="0">
              <a:buNone/>
            </a:pPr>
            <a:r>
              <a:rPr lang="en-US" sz="1300" dirty="0">
                <a:solidFill>
                  <a:srgbClr val="F2C744"/>
                </a:solidFill>
                <a:latin typeface="Arial Black" pitchFamily="34" charset="0"/>
                <a:ea typeface="Arial Black" pitchFamily="34" charset="-122"/>
                <a:cs typeface="Arial Black" pitchFamily="34" charset="-120"/>
              </a:rPr>
              <a:t>PoC 2 — INSTAGRAM</a:t>
            </a:r>
            <a:endParaRPr lang="en-US" sz="1300" dirty="0"/>
          </a:p>
        </p:txBody>
      </p:sp>
      <p:sp>
        <p:nvSpPr>
          <p:cNvPr id="9" name="Text 7"/>
          <p:cNvSpPr/>
          <p:nvPr/>
        </p:nvSpPr>
        <p:spPr>
          <a:xfrm>
            <a:off x="3456432" y="1920240"/>
            <a:ext cx="2331720" cy="1280160"/>
          </a:xfrm>
          <a:prstGeom prst="rect">
            <a:avLst/>
          </a:prstGeom>
          <a:noFill/>
          <a:ln/>
        </p:spPr>
        <p:txBody>
          <a:bodyPr wrap="square" rtlCol="0" anchor="t"/>
          <a:lstStyle/>
          <a:p>
            <a:pPr indent="0" marL="0">
              <a:buNone/>
            </a:pPr>
            <a:r>
              <a:rPr lang="en-US" sz="1100" dirty="0">
                <a:solidFill>
                  <a:srgbClr val="E8EEF8"/>
                </a:solidFill>
                <a:latin typeface="Arial" pitchFamily="34" charset="0"/>
                <a:ea typeface="Arial" pitchFamily="34" charset="-122"/>
                <a:cs typeface="Arial" pitchFamily="34" charset="-120"/>
              </a:rPr>
              <a:t>Een script laadt de feed dynamisch in via Behold (Graph API). Geen statische afbeeldingen.</a:t>
            </a:r>
            <a:endParaRPr lang="en-US" sz="1100" dirty="0"/>
          </a:p>
        </p:txBody>
      </p:sp>
      <p:sp>
        <p:nvSpPr>
          <p:cNvPr id="10" name="Shape 8"/>
          <p:cNvSpPr/>
          <p:nvPr/>
        </p:nvSpPr>
        <p:spPr>
          <a:xfrm>
            <a:off x="6126480" y="1371600"/>
            <a:ext cx="2651760" cy="1920240"/>
          </a:xfrm>
          <a:prstGeom prst="roundRect">
            <a:avLst>
              <a:gd name="adj" fmla="val 3333"/>
            </a:avLst>
          </a:prstGeom>
          <a:solidFill>
            <a:srgbClr val="2B4C8C"/>
          </a:solidFill>
          <a:ln/>
          <a:effectLst>
            <a:outerShdw sx="100000" sy="100000" kx="0" ky="0" algn="bl" rotWithShape="0" blurRad="101600" dist="25400" dir="8100000">
              <a:srgbClr val="2B4C8C">
                <a:alpha val="18000"/>
              </a:srgbClr>
            </a:outerShdw>
          </a:effectLst>
        </p:spPr>
      </p:sp>
      <p:sp>
        <p:nvSpPr>
          <p:cNvPr id="11" name="Text 9"/>
          <p:cNvSpPr/>
          <p:nvPr/>
        </p:nvSpPr>
        <p:spPr>
          <a:xfrm>
            <a:off x="6291072" y="1508760"/>
            <a:ext cx="2331720" cy="365760"/>
          </a:xfrm>
          <a:prstGeom prst="rect">
            <a:avLst/>
          </a:prstGeom>
          <a:noFill/>
          <a:ln/>
        </p:spPr>
        <p:txBody>
          <a:bodyPr wrap="square" rtlCol="0" anchor="ctr"/>
          <a:lstStyle/>
          <a:p>
            <a:pPr indent="0" marL="0">
              <a:buNone/>
            </a:pPr>
            <a:r>
              <a:rPr lang="en-US" sz="1300" dirty="0">
                <a:solidFill>
                  <a:srgbClr val="F2C744"/>
                </a:solidFill>
                <a:latin typeface="Arial Black" pitchFamily="34" charset="0"/>
                <a:ea typeface="Arial Black" pitchFamily="34" charset="-122"/>
                <a:cs typeface="Arial Black" pitchFamily="34" charset="-120"/>
              </a:rPr>
              <a:t>PoC 3 — KAART</a:t>
            </a:r>
            <a:endParaRPr lang="en-US" sz="1300" dirty="0"/>
          </a:p>
        </p:txBody>
      </p:sp>
      <p:sp>
        <p:nvSpPr>
          <p:cNvPr id="12" name="Text 10"/>
          <p:cNvSpPr/>
          <p:nvPr/>
        </p:nvSpPr>
        <p:spPr>
          <a:xfrm>
            <a:off x="6291072" y="1920240"/>
            <a:ext cx="2331720" cy="1280160"/>
          </a:xfrm>
          <a:prstGeom prst="rect">
            <a:avLst/>
          </a:prstGeom>
          <a:noFill/>
          <a:ln/>
        </p:spPr>
        <p:txBody>
          <a:bodyPr wrap="square" rtlCol="0" anchor="t"/>
          <a:lstStyle/>
          <a:p>
            <a:pPr indent="0" marL="0">
              <a:buNone/>
            </a:pPr>
            <a:r>
              <a:rPr lang="en-US" sz="1100" dirty="0">
                <a:solidFill>
                  <a:srgbClr val="E8EEF8"/>
                </a:solidFill>
                <a:latin typeface="Arial" pitchFamily="34" charset="0"/>
                <a:ea typeface="Arial" pitchFamily="34" charset="-122"/>
                <a:cs typeface="Arial" pitchFamily="34" charset="-120"/>
              </a:rPr>
              <a:t>Leaflet toont markers op de juiste plekken in Berlijn op basis van CMS-coördinaten, met categoriefilters.</a:t>
            </a:r>
            <a:endParaRPr lang="en-US" sz="1100" dirty="0"/>
          </a:p>
        </p:txBody>
      </p:sp>
      <p:sp>
        <p:nvSpPr>
          <p:cNvPr id="13" name="Shape 11"/>
          <p:cNvSpPr/>
          <p:nvPr/>
        </p:nvSpPr>
        <p:spPr>
          <a:xfrm>
            <a:off x="457200" y="3520440"/>
            <a:ext cx="8229600" cy="1234440"/>
          </a:xfrm>
          <a:prstGeom prst="roundRect">
            <a:avLst>
              <a:gd name="adj" fmla="val 5926"/>
            </a:avLst>
          </a:prstGeom>
          <a:solidFill>
            <a:srgbClr val="F1F0EC"/>
          </a:solidFill>
          <a:ln/>
          <a:effectLst>
            <a:outerShdw sx="100000" sy="100000" kx="0" ky="0" algn="bl" rotWithShape="0" blurRad="101600" dist="25400" dir="8100000">
              <a:srgbClr val="2B4C8C">
                <a:alpha val="18000"/>
              </a:srgbClr>
            </a:outerShdw>
          </a:effectLst>
        </p:spPr>
      </p:sp>
      <p:sp>
        <p:nvSpPr>
          <p:cNvPr id="14" name="Text 12"/>
          <p:cNvSpPr/>
          <p:nvPr/>
        </p:nvSpPr>
        <p:spPr>
          <a:xfrm>
            <a:off x="621792" y="3657600"/>
            <a:ext cx="7900416" cy="365760"/>
          </a:xfrm>
          <a:prstGeom prst="rect">
            <a:avLst/>
          </a:prstGeom>
          <a:noFill/>
          <a:ln/>
        </p:spPr>
        <p:txBody>
          <a:bodyPr wrap="square" rtlCol="0" anchor="ctr"/>
          <a:lstStyle/>
          <a:p>
            <a:pPr indent="0" marL="0">
              <a:buNone/>
            </a:pPr>
            <a:endParaRPr lang="en-US" sz="1500" dirty="0"/>
          </a:p>
        </p:txBody>
      </p:sp>
      <p:sp>
        <p:nvSpPr>
          <p:cNvPr id="15" name="Text 13"/>
          <p:cNvSpPr/>
          <p:nvPr/>
        </p:nvSpPr>
        <p:spPr>
          <a:xfrm>
            <a:off x="621792" y="4023360"/>
            <a:ext cx="7900416" cy="594360"/>
          </a:xfrm>
          <a:prstGeom prst="rect">
            <a:avLst/>
          </a:prstGeom>
          <a:noFill/>
          <a:ln/>
        </p:spPr>
        <p:txBody>
          <a:bodyPr wrap="square" rtlCol="0" anchor="t"/>
          <a:lstStyle/>
          <a:p>
            <a:pPr indent="0" marL="0">
              <a:buNone/>
            </a:pPr>
            <a:endParaRPr lang="en-US" sz="1150" dirty="0"/>
          </a:p>
        </p:txBody>
      </p:sp>
      <p:sp>
        <p:nvSpPr>
          <p:cNvPr id="16" name="Text 14"/>
          <p:cNvSpPr/>
          <p:nvPr/>
        </p:nvSpPr>
        <p:spPr>
          <a:xfrm>
            <a:off x="640080" y="3611880"/>
            <a:ext cx="7863840" cy="1051560"/>
          </a:xfrm>
          <a:prstGeom prst="rect">
            <a:avLst/>
          </a:prstGeom>
          <a:noFill/>
          <a:ln/>
        </p:spPr>
        <p:txBody>
          <a:bodyPr wrap="square" rtlCol="0" anchor="ctr"/>
          <a:lstStyle/>
          <a:p>
            <a:pPr indent="0" marL="0">
              <a:buNone/>
            </a:pPr>
            <a:r>
              <a:rPr lang="en-US" sz="1250" b="1" dirty="0">
                <a:solidFill>
                  <a:srgbClr val="2B4C8C"/>
                </a:solidFill>
                <a:latin typeface="Arial" pitchFamily="34" charset="0"/>
                <a:ea typeface="Arial" pitchFamily="34" charset="-122"/>
                <a:cs typeface="Arial" pitchFamily="34" charset="-120"/>
              </a:rPr>
              <a:t>Slim gebouwd voor de demo: </a:t>
            </a:r>
            <a:pPr indent="0" marL="0">
              <a:buNone/>
            </a:pPr>
            <a:r>
              <a:rPr lang="en-US" sz="1250" dirty="0">
                <a:solidFill>
                  <a:srgbClr val="1E2430"/>
                </a:solidFill>
                <a:latin typeface="Arial" pitchFamily="34" charset="0"/>
                <a:ea typeface="Arial" pitchFamily="34" charset="-122"/>
                <a:cs typeface="Arial" pitchFamily="34" charset="-120"/>
              </a:rPr>
              <a:t>is het CMS even niet bereikbaar, dan schakelt de site automatisch over op lokale demodata — de presentatie kan dus nooit mislukken. Alle code staat in onze GitHub-repository met een heldere README (installatie, uitleg per PoC en de koppeling met de UML-diagrammen).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rtlCol="0" anchor="ctr"/>
          <a:lstStyle/>
          <a:p>
            <a:pPr indent="0" marL="0">
              <a:buNone/>
            </a:pPr>
            <a:r>
              <a:rPr lang="en-US" sz="1200" b="1" spc="300" kern="0" dirty="0">
                <a:solidFill>
                  <a:srgbClr val="E8703A"/>
                </a:solidFill>
                <a:latin typeface="Arial" pitchFamily="34" charset="0"/>
                <a:ea typeface="Arial" pitchFamily="34" charset="-122"/>
                <a:cs typeface="Arial" pitchFamily="34" charset="-120"/>
              </a:rPr>
              <a:t>AANPAK</a:t>
            </a:r>
            <a:endParaRPr lang="en-US" sz="1200" dirty="0"/>
          </a:p>
        </p:txBody>
      </p:sp>
      <p:sp>
        <p:nvSpPr>
          <p:cNvPr id="3" name="Text 1"/>
          <p:cNvSpPr/>
          <p:nvPr/>
        </p:nvSpPr>
        <p:spPr>
          <a:xfrm>
            <a:off x="457200" y="548640"/>
            <a:ext cx="8229600" cy="548640"/>
          </a:xfrm>
          <a:prstGeom prst="rect">
            <a:avLst/>
          </a:prstGeom>
          <a:noFill/>
          <a:ln/>
        </p:spPr>
        <p:txBody>
          <a:bodyPr wrap="square" rtlCol="0" anchor="ctr"/>
          <a:lstStyle/>
          <a:p>
            <a:pPr indent="0" marL="0">
              <a:buNone/>
            </a:pPr>
            <a:r>
              <a:rPr lang="en-US" sz="2800" dirty="0">
                <a:solidFill>
                  <a:srgbClr val="2B4C8C"/>
                </a:solidFill>
                <a:latin typeface="Arial Black" pitchFamily="34" charset="0"/>
                <a:ea typeface="Arial Black" pitchFamily="34" charset="-122"/>
                <a:cs typeface="Arial Black" pitchFamily="34" charset="-120"/>
              </a:rPr>
              <a:t>Planning &amp; taakverdeling</a:t>
            </a:r>
            <a:endParaRPr lang="en-US" sz="2800" dirty="0"/>
          </a:p>
        </p:txBody>
      </p:sp>
      <p:sp>
        <p:nvSpPr>
          <p:cNvPr id="4" name="Shape 2"/>
          <p:cNvSpPr/>
          <p:nvPr/>
        </p:nvSpPr>
        <p:spPr>
          <a:xfrm>
            <a:off x="1143000" y="1371600"/>
            <a:ext cx="685800" cy="685800"/>
          </a:xfrm>
          <a:prstGeom prst="ellipse">
            <a:avLst/>
          </a:prstGeom>
          <a:solidFill>
            <a:srgbClr val="2B4C8C"/>
          </a:solidFill>
          <a:ln/>
        </p:spPr>
      </p:sp>
      <p:sp>
        <p:nvSpPr>
          <p:cNvPr id="5" name="Text 3"/>
          <p:cNvSpPr/>
          <p:nvPr/>
        </p:nvSpPr>
        <p:spPr>
          <a:xfrm>
            <a:off x="1143000" y="1371600"/>
            <a:ext cx="685800" cy="685800"/>
          </a:xfrm>
          <a:prstGeom prst="rect">
            <a:avLst/>
          </a:prstGeom>
          <a:noFill/>
          <a:ln/>
        </p:spPr>
        <p:txBody>
          <a:bodyPr wrap="square"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WK 1</a:t>
            </a:r>
            <a:endParaRPr lang="en-US" sz="1100" dirty="0"/>
          </a:p>
        </p:txBody>
      </p:sp>
      <p:sp>
        <p:nvSpPr>
          <p:cNvPr id="6" name="Shape 4"/>
          <p:cNvSpPr/>
          <p:nvPr/>
        </p:nvSpPr>
        <p:spPr>
          <a:xfrm>
            <a:off x="1920240" y="1709928"/>
            <a:ext cx="1325880" cy="0"/>
          </a:xfrm>
          <a:prstGeom prst="line">
            <a:avLst/>
          </a:prstGeom>
          <a:noFill/>
          <a:ln w="25400">
            <a:solidFill>
              <a:srgbClr val="B9C4D6"/>
            </a:solidFill>
            <a:prstDash val="solid"/>
          </a:ln>
        </p:spPr>
      </p:sp>
      <p:sp>
        <p:nvSpPr>
          <p:cNvPr id="7" name="Text 5"/>
          <p:cNvSpPr/>
          <p:nvPr/>
        </p:nvSpPr>
        <p:spPr>
          <a:xfrm>
            <a:off x="411480" y="2148840"/>
            <a:ext cx="2148840" cy="320040"/>
          </a:xfrm>
          <a:prstGeom prst="rect">
            <a:avLst/>
          </a:prstGeom>
          <a:noFill/>
          <a:ln/>
        </p:spPr>
        <p:txBody>
          <a:bodyPr wrap="square" rtlCol="0" anchor="ctr"/>
          <a:lstStyle/>
          <a:p>
            <a:pPr algn="ctr" indent="0" marL="0">
              <a:buNone/>
            </a:pPr>
            <a:r>
              <a:rPr lang="en-US" sz="1150" dirty="0">
                <a:solidFill>
                  <a:srgbClr val="2B4C8C"/>
                </a:solidFill>
                <a:latin typeface="Arial Black" pitchFamily="34" charset="0"/>
                <a:ea typeface="Arial Black" pitchFamily="34" charset="-122"/>
                <a:cs typeface="Arial Black" pitchFamily="34" charset="-120"/>
              </a:rPr>
              <a:t>Concept &amp; structuur</a:t>
            </a:r>
            <a:endParaRPr lang="en-US" sz="1150" dirty="0"/>
          </a:p>
        </p:txBody>
      </p:sp>
      <p:sp>
        <p:nvSpPr>
          <p:cNvPr id="8" name="Text 6"/>
          <p:cNvSpPr/>
          <p:nvPr/>
        </p:nvSpPr>
        <p:spPr>
          <a:xfrm>
            <a:off x="411480" y="2468880"/>
            <a:ext cx="2148840" cy="777240"/>
          </a:xfrm>
          <a:prstGeom prst="rect">
            <a:avLst/>
          </a:prstGeom>
          <a:noFill/>
          <a:ln/>
        </p:spPr>
        <p:txBody>
          <a:bodyPr wrap="square" rtlCol="0" anchor="t"/>
          <a:lstStyle/>
          <a:p>
            <a:pPr algn="ctr" indent="0" marL="0">
              <a:buNone/>
            </a:pPr>
            <a:r>
              <a:rPr lang="en-US" sz="1000" dirty="0">
                <a:solidFill>
                  <a:srgbClr val="4A5160"/>
                </a:solidFill>
                <a:latin typeface="Arial" pitchFamily="34" charset="0"/>
                <a:ea typeface="Arial" pitchFamily="34" charset="-122"/>
                <a:cs typeface="Arial" pitchFamily="34" charset="-120"/>
              </a:rPr>
              <a:t>Functioneel ontwerp, sitemap, UML-diagrammen, backlog</a:t>
            </a:r>
            <a:endParaRPr lang="en-US" sz="1000" dirty="0"/>
          </a:p>
        </p:txBody>
      </p:sp>
      <p:sp>
        <p:nvSpPr>
          <p:cNvPr id="9" name="Shape 7"/>
          <p:cNvSpPr/>
          <p:nvPr/>
        </p:nvSpPr>
        <p:spPr>
          <a:xfrm>
            <a:off x="3273552" y="1371600"/>
            <a:ext cx="685800" cy="685800"/>
          </a:xfrm>
          <a:prstGeom prst="ellipse">
            <a:avLst/>
          </a:prstGeom>
          <a:solidFill>
            <a:srgbClr val="2B4C8C"/>
          </a:solidFill>
          <a:ln/>
        </p:spPr>
      </p:sp>
      <p:sp>
        <p:nvSpPr>
          <p:cNvPr id="10" name="Text 8"/>
          <p:cNvSpPr/>
          <p:nvPr/>
        </p:nvSpPr>
        <p:spPr>
          <a:xfrm>
            <a:off x="3273552" y="1371600"/>
            <a:ext cx="685800" cy="685800"/>
          </a:xfrm>
          <a:prstGeom prst="rect">
            <a:avLst/>
          </a:prstGeom>
          <a:noFill/>
          <a:ln/>
        </p:spPr>
        <p:txBody>
          <a:bodyPr wrap="square"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WK 2-3</a:t>
            </a:r>
            <a:endParaRPr lang="en-US" sz="1100" dirty="0"/>
          </a:p>
        </p:txBody>
      </p:sp>
      <p:sp>
        <p:nvSpPr>
          <p:cNvPr id="11" name="Shape 9"/>
          <p:cNvSpPr/>
          <p:nvPr/>
        </p:nvSpPr>
        <p:spPr>
          <a:xfrm>
            <a:off x="4050792" y="1709928"/>
            <a:ext cx="1325880" cy="0"/>
          </a:xfrm>
          <a:prstGeom prst="line">
            <a:avLst/>
          </a:prstGeom>
          <a:noFill/>
          <a:ln w="25400">
            <a:solidFill>
              <a:srgbClr val="B9C4D6"/>
            </a:solidFill>
            <a:prstDash val="solid"/>
          </a:ln>
        </p:spPr>
      </p:sp>
      <p:sp>
        <p:nvSpPr>
          <p:cNvPr id="12" name="Text 10"/>
          <p:cNvSpPr/>
          <p:nvPr/>
        </p:nvSpPr>
        <p:spPr>
          <a:xfrm>
            <a:off x="2542032" y="2148840"/>
            <a:ext cx="2148840" cy="320040"/>
          </a:xfrm>
          <a:prstGeom prst="rect">
            <a:avLst/>
          </a:prstGeom>
          <a:noFill/>
          <a:ln/>
        </p:spPr>
        <p:txBody>
          <a:bodyPr wrap="square" rtlCol="0" anchor="ctr"/>
          <a:lstStyle/>
          <a:p>
            <a:pPr algn="ctr" indent="0" marL="0">
              <a:buNone/>
            </a:pPr>
            <a:r>
              <a:rPr lang="en-US" sz="1150" dirty="0">
                <a:solidFill>
                  <a:srgbClr val="2B4C8C"/>
                </a:solidFill>
                <a:latin typeface="Arial Black" pitchFamily="34" charset="0"/>
                <a:ea typeface="Arial Black" pitchFamily="34" charset="-122"/>
                <a:cs typeface="Arial Black" pitchFamily="34" charset="-120"/>
              </a:rPr>
              <a:t>Design &amp; onderzoek</a:t>
            </a:r>
            <a:endParaRPr lang="en-US" sz="1150" dirty="0"/>
          </a:p>
        </p:txBody>
      </p:sp>
      <p:sp>
        <p:nvSpPr>
          <p:cNvPr id="13" name="Text 11"/>
          <p:cNvSpPr/>
          <p:nvPr/>
        </p:nvSpPr>
        <p:spPr>
          <a:xfrm>
            <a:off x="2542032" y="2468880"/>
            <a:ext cx="2148840" cy="777240"/>
          </a:xfrm>
          <a:prstGeom prst="rect">
            <a:avLst/>
          </a:prstGeom>
          <a:noFill/>
          <a:ln/>
        </p:spPr>
        <p:txBody>
          <a:bodyPr wrap="square" rtlCol="0" anchor="t"/>
          <a:lstStyle/>
          <a:p>
            <a:pPr algn="ctr" indent="0" marL="0">
              <a:buNone/>
            </a:pPr>
            <a:r>
              <a:rPr lang="en-US" sz="1000" dirty="0">
                <a:solidFill>
                  <a:srgbClr val="4A5160"/>
                </a:solidFill>
                <a:latin typeface="Arial" pitchFamily="34" charset="0"/>
                <a:ea typeface="Arial" pitchFamily="34" charset="-122"/>
                <a:cs typeface="Arial" pitchFamily="34" charset="-120"/>
              </a:rPr>
              <a:t>Wireframes, styleguide, technisch adviesrapport</a:t>
            </a:r>
            <a:endParaRPr lang="en-US" sz="1000" dirty="0"/>
          </a:p>
        </p:txBody>
      </p:sp>
      <p:sp>
        <p:nvSpPr>
          <p:cNvPr id="14" name="Shape 12"/>
          <p:cNvSpPr/>
          <p:nvPr/>
        </p:nvSpPr>
        <p:spPr>
          <a:xfrm>
            <a:off x="5404104" y="1371600"/>
            <a:ext cx="685800" cy="685800"/>
          </a:xfrm>
          <a:prstGeom prst="ellipse">
            <a:avLst/>
          </a:prstGeom>
          <a:solidFill>
            <a:srgbClr val="2B4C8C"/>
          </a:solidFill>
          <a:ln/>
        </p:spPr>
      </p:sp>
      <p:sp>
        <p:nvSpPr>
          <p:cNvPr id="15" name="Text 13"/>
          <p:cNvSpPr/>
          <p:nvPr/>
        </p:nvSpPr>
        <p:spPr>
          <a:xfrm>
            <a:off x="5404104" y="1371600"/>
            <a:ext cx="685800" cy="685800"/>
          </a:xfrm>
          <a:prstGeom prst="rect">
            <a:avLst/>
          </a:prstGeom>
          <a:noFill/>
          <a:ln/>
        </p:spPr>
        <p:txBody>
          <a:bodyPr wrap="square"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WK 4-7</a:t>
            </a:r>
            <a:endParaRPr lang="en-US" sz="1100" dirty="0"/>
          </a:p>
        </p:txBody>
      </p:sp>
      <p:sp>
        <p:nvSpPr>
          <p:cNvPr id="16" name="Shape 14"/>
          <p:cNvSpPr/>
          <p:nvPr/>
        </p:nvSpPr>
        <p:spPr>
          <a:xfrm>
            <a:off x="6181344" y="1709928"/>
            <a:ext cx="1325880" cy="0"/>
          </a:xfrm>
          <a:prstGeom prst="line">
            <a:avLst/>
          </a:prstGeom>
          <a:noFill/>
          <a:ln w="25400">
            <a:solidFill>
              <a:srgbClr val="B9C4D6"/>
            </a:solidFill>
            <a:prstDash val="solid"/>
          </a:ln>
        </p:spPr>
      </p:sp>
      <p:sp>
        <p:nvSpPr>
          <p:cNvPr id="17" name="Text 15"/>
          <p:cNvSpPr/>
          <p:nvPr/>
        </p:nvSpPr>
        <p:spPr>
          <a:xfrm>
            <a:off x="4672584" y="2148840"/>
            <a:ext cx="2148840" cy="320040"/>
          </a:xfrm>
          <a:prstGeom prst="rect">
            <a:avLst/>
          </a:prstGeom>
          <a:noFill/>
          <a:ln/>
        </p:spPr>
        <p:txBody>
          <a:bodyPr wrap="square" rtlCol="0" anchor="ctr"/>
          <a:lstStyle/>
          <a:p>
            <a:pPr algn="ctr" indent="0" marL="0">
              <a:buNone/>
            </a:pPr>
            <a:r>
              <a:rPr lang="en-US" sz="1150" dirty="0">
                <a:solidFill>
                  <a:srgbClr val="2B4C8C"/>
                </a:solidFill>
                <a:latin typeface="Arial Black" pitchFamily="34" charset="0"/>
                <a:ea typeface="Arial Black" pitchFamily="34" charset="-122"/>
                <a:cs typeface="Arial Black" pitchFamily="34" charset="-120"/>
              </a:rPr>
              <a:t>Bouwen</a:t>
            </a:r>
            <a:endParaRPr lang="en-US" sz="1150" dirty="0"/>
          </a:p>
        </p:txBody>
      </p:sp>
      <p:sp>
        <p:nvSpPr>
          <p:cNvPr id="18" name="Text 16"/>
          <p:cNvSpPr/>
          <p:nvPr/>
        </p:nvSpPr>
        <p:spPr>
          <a:xfrm>
            <a:off x="4672584" y="2468880"/>
            <a:ext cx="2148840" cy="777240"/>
          </a:xfrm>
          <a:prstGeom prst="rect">
            <a:avLst/>
          </a:prstGeom>
          <a:noFill/>
          <a:ln/>
        </p:spPr>
        <p:txBody>
          <a:bodyPr wrap="square" rtlCol="0" anchor="t"/>
          <a:lstStyle/>
          <a:p>
            <a:pPr algn="ctr" indent="0" marL="0">
              <a:buNone/>
            </a:pPr>
            <a:r>
              <a:rPr lang="en-US" sz="1000" dirty="0">
                <a:solidFill>
                  <a:srgbClr val="4A5160"/>
                </a:solidFill>
                <a:latin typeface="Arial" pitchFamily="34" charset="0"/>
                <a:ea typeface="Arial" pitchFamily="34" charset="-122"/>
                <a:cs typeface="Arial" pitchFamily="34" charset="-120"/>
              </a:rPr>
              <a:t>Hi-fi prototype in Figma + Proof of Concept in code</a:t>
            </a:r>
            <a:endParaRPr lang="en-US" sz="1000" dirty="0"/>
          </a:p>
        </p:txBody>
      </p:sp>
      <p:sp>
        <p:nvSpPr>
          <p:cNvPr id="19" name="Shape 17"/>
          <p:cNvSpPr/>
          <p:nvPr/>
        </p:nvSpPr>
        <p:spPr>
          <a:xfrm>
            <a:off x="7534656" y="1371600"/>
            <a:ext cx="685800" cy="685800"/>
          </a:xfrm>
          <a:prstGeom prst="ellipse">
            <a:avLst/>
          </a:prstGeom>
          <a:solidFill>
            <a:srgbClr val="E8703A"/>
          </a:solidFill>
          <a:ln/>
        </p:spPr>
      </p:sp>
      <p:sp>
        <p:nvSpPr>
          <p:cNvPr id="20" name="Text 18"/>
          <p:cNvSpPr/>
          <p:nvPr/>
        </p:nvSpPr>
        <p:spPr>
          <a:xfrm>
            <a:off x="7534656" y="1371600"/>
            <a:ext cx="685800" cy="685800"/>
          </a:xfrm>
          <a:prstGeom prst="rect">
            <a:avLst/>
          </a:prstGeom>
          <a:noFill/>
          <a:ln/>
        </p:spPr>
        <p:txBody>
          <a:bodyPr wrap="square"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WK 8</a:t>
            </a:r>
            <a:endParaRPr lang="en-US" sz="1100" dirty="0"/>
          </a:p>
        </p:txBody>
      </p:sp>
      <p:sp>
        <p:nvSpPr>
          <p:cNvPr id="21" name="Text 19"/>
          <p:cNvSpPr/>
          <p:nvPr/>
        </p:nvSpPr>
        <p:spPr>
          <a:xfrm>
            <a:off x="6803136" y="2148840"/>
            <a:ext cx="2148840" cy="320040"/>
          </a:xfrm>
          <a:prstGeom prst="rect">
            <a:avLst/>
          </a:prstGeom>
          <a:noFill/>
          <a:ln/>
        </p:spPr>
        <p:txBody>
          <a:bodyPr wrap="square" rtlCol="0" anchor="ctr"/>
          <a:lstStyle/>
          <a:p>
            <a:pPr algn="ctr" indent="0" marL="0">
              <a:buNone/>
            </a:pPr>
            <a:r>
              <a:rPr lang="en-US" sz="1150" dirty="0">
                <a:solidFill>
                  <a:srgbClr val="2B4C8C"/>
                </a:solidFill>
                <a:latin typeface="Arial Black" pitchFamily="34" charset="0"/>
                <a:ea typeface="Arial Black" pitchFamily="34" charset="-122"/>
                <a:cs typeface="Arial Black" pitchFamily="34" charset="-120"/>
              </a:rPr>
              <a:t>Opleveren</a:t>
            </a:r>
            <a:endParaRPr lang="en-US" sz="1150" dirty="0"/>
          </a:p>
        </p:txBody>
      </p:sp>
      <p:sp>
        <p:nvSpPr>
          <p:cNvPr id="22" name="Text 20"/>
          <p:cNvSpPr/>
          <p:nvPr/>
        </p:nvSpPr>
        <p:spPr>
          <a:xfrm>
            <a:off x="6803136" y="2468880"/>
            <a:ext cx="2148840" cy="777240"/>
          </a:xfrm>
          <a:prstGeom prst="rect">
            <a:avLst/>
          </a:prstGeom>
          <a:noFill/>
          <a:ln/>
        </p:spPr>
        <p:txBody>
          <a:bodyPr wrap="square" rtlCol="0" anchor="t"/>
          <a:lstStyle/>
          <a:p>
            <a:pPr algn="ctr" indent="0" marL="0">
              <a:buNone/>
            </a:pPr>
            <a:r>
              <a:rPr lang="en-US" sz="1000" dirty="0">
                <a:solidFill>
                  <a:srgbClr val="4A5160"/>
                </a:solidFill>
                <a:latin typeface="Arial" pitchFamily="34" charset="0"/>
                <a:ea typeface="Arial" pitchFamily="34" charset="-122"/>
                <a:cs typeface="Arial" pitchFamily="34" charset="-120"/>
              </a:rPr>
              <a:t>GitHub repo, pitch en presentatie (15 juni)</a:t>
            </a:r>
            <a:endParaRPr lang="en-US" sz="1000" dirty="0"/>
          </a:p>
        </p:txBody>
      </p:sp>
      <p:sp>
        <p:nvSpPr>
          <p:cNvPr id="23" name="Shape 21"/>
          <p:cNvSpPr/>
          <p:nvPr/>
        </p:nvSpPr>
        <p:spPr>
          <a:xfrm>
            <a:off x="457200" y="3383280"/>
            <a:ext cx="4023360" cy="1371600"/>
          </a:xfrm>
          <a:prstGeom prst="roundRect">
            <a:avLst>
              <a:gd name="adj" fmla="val 5333"/>
            </a:avLst>
          </a:prstGeom>
          <a:solidFill>
            <a:srgbClr val="CFE0E8"/>
          </a:solidFill>
          <a:ln/>
          <a:effectLst>
            <a:outerShdw sx="100000" sy="100000" kx="0" ky="0" algn="bl" rotWithShape="0" blurRad="101600" dist="25400" dir="8100000">
              <a:srgbClr val="2B4C8C">
                <a:alpha val="18000"/>
              </a:srgbClr>
            </a:outerShdw>
          </a:effectLst>
        </p:spPr>
      </p:sp>
      <p:sp>
        <p:nvSpPr>
          <p:cNvPr id="24" name="Text 22"/>
          <p:cNvSpPr/>
          <p:nvPr/>
        </p:nvSpPr>
        <p:spPr>
          <a:xfrm>
            <a:off x="621792" y="3520440"/>
            <a:ext cx="3694176" cy="365760"/>
          </a:xfrm>
          <a:prstGeom prst="rect">
            <a:avLst/>
          </a:prstGeom>
          <a:noFill/>
          <a:ln/>
        </p:spPr>
        <p:txBody>
          <a:bodyPr wrap="square" rtlCol="0" anchor="ctr"/>
          <a:lstStyle/>
          <a:p>
            <a:pPr indent="0" marL="0">
              <a:buNone/>
            </a:pPr>
            <a:r>
              <a:rPr lang="en-US" sz="1500" dirty="0">
                <a:solidFill>
                  <a:srgbClr val="2B4C8C"/>
                </a:solidFill>
                <a:latin typeface="Arial Black" pitchFamily="34" charset="0"/>
                <a:ea typeface="Arial Black" pitchFamily="34" charset="-122"/>
                <a:cs typeface="Arial Black" pitchFamily="34" charset="-120"/>
              </a:rPr>
              <a:t>ABA</a:t>
            </a:r>
            <a:endParaRPr lang="en-US" sz="1500" dirty="0"/>
          </a:p>
        </p:txBody>
      </p:sp>
      <p:sp>
        <p:nvSpPr>
          <p:cNvPr id="25" name="Text 23"/>
          <p:cNvSpPr/>
          <p:nvPr/>
        </p:nvSpPr>
        <p:spPr>
          <a:xfrm>
            <a:off x="621792" y="3886200"/>
            <a:ext cx="3694176" cy="731520"/>
          </a:xfrm>
          <a:prstGeom prst="rect">
            <a:avLst/>
          </a:prstGeom>
          <a:noFill/>
          <a:ln/>
        </p:spPr>
        <p:txBody>
          <a:bodyPr wrap="square" rtlCol="0" anchor="t"/>
          <a:lstStyle/>
          <a:p>
            <a:pPr indent="0" marL="0">
              <a:buNone/>
            </a:pPr>
            <a:r>
              <a:rPr lang="en-US" sz="1150" dirty="0">
                <a:solidFill>
                  <a:srgbClr val="4A5160"/>
                </a:solidFill>
                <a:latin typeface="Arial" pitchFamily="34" charset="0"/>
                <a:ea typeface="Arial" pitchFamily="34" charset="-122"/>
                <a:cs typeface="Arial" pitchFamily="34" charset="-120"/>
              </a:rPr>
              <a:t>Functioneel ontwerp · sitemap · wireframes · hi-fi desktop · CMS- en kaart-PoC · pitch (concept &amp; techniek)</a:t>
            </a:r>
            <a:endParaRPr lang="en-US" sz="1150" dirty="0"/>
          </a:p>
        </p:txBody>
      </p:sp>
      <p:sp>
        <p:nvSpPr>
          <p:cNvPr id="26" name="Shape 24"/>
          <p:cNvSpPr/>
          <p:nvPr/>
        </p:nvSpPr>
        <p:spPr>
          <a:xfrm>
            <a:off x="4663440" y="3383280"/>
            <a:ext cx="4023360" cy="1371600"/>
          </a:xfrm>
          <a:prstGeom prst="roundRect">
            <a:avLst>
              <a:gd name="adj" fmla="val 5333"/>
            </a:avLst>
          </a:prstGeom>
          <a:solidFill>
            <a:srgbClr val="F1F0EC"/>
          </a:solidFill>
          <a:ln/>
          <a:effectLst>
            <a:outerShdw sx="100000" sy="100000" kx="0" ky="0" algn="bl" rotWithShape="0" blurRad="101600" dist="25400" dir="8100000">
              <a:srgbClr val="2B4C8C">
                <a:alpha val="18000"/>
              </a:srgbClr>
            </a:outerShdw>
          </a:effectLst>
        </p:spPr>
      </p:sp>
      <p:sp>
        <p:nvSpPr>
          <p:cNvPr id="27" name="Text 25"/>
          <p:cNvSpPr/>
          <p:nvPr/>
        </p:nvSpPr>
        <p:spPr>
          <a:xfrm>
            <a:off x="4828032" y="3520440"/>
            <a:ext cx="3694176" cy="365760"/>
          </a:xfrm>
          <a:prstGeom prst="rect">
            <a:avLst/>
          </a:prstGeom>
          <a:noFill/>
          <a:ln/>
        </p:spPr>
        <p:txBody>
          <a:bodyPr wrap="square" rtlCol="0" anchor="ctr"/>
          <a:lstStyle/>
          <a:p>
            <a:pPr indent="0" marL="0">
              <a:buNone/>
            </a:pPr>
            <a:r>
              <a:rPr lang="en-US" sz="1500" dirty="0">
                <a:solidFill>
                  <a:srgbClr val="2B4C8C"/>
                </a:solidFill>
                <a:latin typeface="Arial Black" pitchFamily="34" charset="0"/>
                <a:ea typeface="Arial Black" pitchFamily="34" charset="-122"/>
                <a:cs typeface="Arial Black" pitchFamily="34" charset="-120"/>
              </a:rPr>
              <a:t>RICK</a:t>
            </a:r>
            <a:endParaRPr lang="en-US" sz="1500" dirty="0"/>
          </a:p>
        </p:txBody>
      </p:sp>
      <p:sp>
        <p:nvSpPr>
          <p:cNvPr id="28" name="Text 26"/>
          <p:cNvSpPr/>
          <p:nvPr/>
        </p:nvSpPr>
        <p:spPr>
          <a:xfrm>
            <a:off x="4828032" y="3886200"/>
            <a:ext cx="3694176" cy="731520"/>
          </a:xfrm>
          <a:prstGeom prst="rect">
            <a:avLst/>
          </a:prstGeom>
          <a:noFill/>
          <a:ln/>
        </p:spPr>
        <p:txBody>
          <a:bodyPr wrap="square" rtlCol="0" anchor="t"/>
          <a:lstStyle/>
          <a:p>
            <a:pPr indent="0" marL="0">
              <a:buNone/>
            </a:pPr>
            <a:r>
              <a:rPr lang="en-US" sz="1150" dirty="0">
                <a:solidFill>
                  <a:srgbClr val="4A5160"/>
                </a:solidFill>
                <a:latin typeface="Arial" pitchFamily="34" charset="0"/>
                <a:ea typeface="Arial" pitchFamily="34" charset="-122"/>
                <a:cs typeface="Arial" pitchFamily="34" charset="-120"/>
              </a:rPr>
              <a:t>UML-diagrammen · onderzoek · styleguide · hi-fi mobiel · Instagram-PoC · GitHub &amp; README · pitch (design &amp; demo)</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4C8C"/>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F2C744"/>
          </a:solidFill>
          <a:ln/>
        </p:spPr>
      </p:sp>
      <p:sp>
        <p:nvSpPr>
          <p:cNvPr id="3" name="Text 1"/>
          <p:cNvSpPr/>
          <p:nvPr/>
        </p:nvSpPr>
        <p:spPr>
          <a:xfrm>
            <a:off x="548640" y="1051560"/>
            <a:ext cx="8046720" cy="731520"/>
          </a:xfrm>
          <a:prstGeom prst="rect">
            <a:avLst/>
          </a:prstGeom>
          <a:noFill/>
          <a:ln/>
        </p:spPr>
        <p:txBody>
          <a:bodyPr wrap="square" rtlCol="0" anchor="ctr"/>
          <a:lstStyle/>
          <a:p>
            <a:pPr indent="0" marL="0">
              <a:buNone/>
            </a:pPr>
            <a:r>
              <a:rPr lang="en-US" sz="3600" spc="300" kern="0" dirty="0">
                <a:solidFill>
                  <a:srgbClr val="FFFFFF"/>
                </a:solidFill>
                <a:latin typeface="Arial Black" pitchFamily="34" charset="0"/>
                <a:ea typeface="Arial Black" pitchFamily="34" charset="-122"/>
                <a:cs typeface="Arial Black" pitchFamily="34" charset="-120"/>
              </a:rPr>
              <a:t>ALLES STAAT KLAAR</a:t>
            </a:r>
            <a:endParaRPr lang="en-US" sz="3600" dirty="0"/>
          </a:p>
        </p:txBody>
      </p:sp>
      <p:sp>
        <p:nvSpPr>
          <p:cNvPr id="4" name="Text 2"/>
          <p:cNvSpPr/>
          <p:nvPr/>
        </p:nvSpPr>
        <p:spPr>
          <a:xfrm>
            <a:off x="594360" y="1920240"/>
            <a:ext cx="7955280" cy="1737360"/>
          </a:xfrm>
          <a:prstGeom prst="rect">
            <a:avLst/>
          </a:prstGeom>
          <a:noFill/>
          <a:ln/>
        </p:spPr>
        <p:txBody>
          <a:bodyPr wrap="square" rtlCol="0" anchor="ctr"/>
          <a:lstStyle/>
          <a:p>
            <a:pPr marL="342900" indent="-342900">
              <a:spcAft>
                <a:spcPts val="1000"/>
              </a:spcAft>
              <a:buSzPct val="100000"/>
              <a:buChar char="•"/>
            </a:pPr>
            <a:r>
              <a:rPr lang="en-US" sz="1500" dirty="0">
                <a:solidFill>
                  <a:srgbClr val="E8EEF8"/>
                </a:solidFill>
                <a:latin typeface="Arial" pitchFamily="34" charset="0"/>
                <a:ea typeface="Arial" pitchFamily="34" charset="-122"/>
                <a:cs typeface="Arial" pitchFamily="34" charset="-120"/>
              </a:rPr>
              <a:t>Functioneel ontwerp, sitemap en UML-diagrammen — opgeleverd</a:t>
            </a:r>
            <a:endParaRPr lang="en-US" sz="1500" dirty="0"/>
          </a:p>
          <a:p>
            <a:pPr marL="342900" indent="-342900">
              <a:spcAft>
                <a:spcPts val="1000"/>
              </a:spcAft>
              <a:buSzPct val="100000"/>
              <a:buChar char="•"/>
            </a:pPr>
            <a:r>
              <a:rPr lang="en-US" sz="1500" dirty="0">
                <a:solidFill>
                  <a:srgbClr val="E8EEF8"/>
                </a:solidFill>
                <a:latin typeface="Arial" pitchFamily="34" charset="0"/>
                <a:ea typeface="Arial" pitchFamily="34" charset="-122"/>
                <a:cs typeface="Arial" pitchFamily="34" charset="-120"/>
              </a:rPr>
              <a:t>Styleguide en hi-fi prototype (desktop + mobiel) in Figma</a:t>
            </a:r>
            <a:endParaRPr lang="en-US" sz="1500" dirty="0"/>
          </a:p>
          <a:p>
            <a:pPr marL="342900" indent="-342900">
              <a:spcAft>
                <a:spcPts val="1000"/>
              </a:spcAft>
              <a:buSzPct val="100000"/>
              <a:buChar char="•"/>
            </a:pPr>
            <a:r>
              <a:rPr lang="en-US" sz="1500" dirty="0">
                <a:solidFill>
                  <a:srgbClr val="E8EEF8"/>
                </a:solidFill>
                <a:latin typeface="Arial" pitchFamily="34" charset="0"/>
                <a:ea typeface="Arial" pitchFamily="34" charset="-122"/>
                <a:cs typeface="Arial" pitchFamily="34" charset="-120"/>
              </a:rPr>
              <a:t>Technisch adviesrapport: eigen CMS-dashboard · Leaflet · Behold</a:t>
            </a:r>
            <a:endParaRPr lang="en-US" sz="1500" dirty="0"/>
          </a:p>
          <a:p>
            <a:pPr marL="342900" indent="-342900">
              <a:spcAft>
                <a:spcPts val="1000"/>
              </a:spcAft>
              <a:buSzPct val="100000"/>
              <a:buChar char="•"/>
            </a:pPr>
            <a:r>
              <a:rPr lang="en-US" sz="1500" dirty="0">
                <a:solidFill>
                  <a:srgbClr val="E8EEF8"/>
                </a:solidFill>
                <a:latin typeface="Arial" pitchFamily="34" charset="0"/>
                <a:ea typeface="Arial" pitchFamily="34" charset="-122"/>
                <a:cs typeface="Arial" pitchFamily="34" charset="-120"/>
              </a:rPr>
              <a:t>Werkende Proof of Concept op GitHub: CMS + Instagram + kaart</a:t>
            </a:r>
            <a:endParaRPr lang="en-US" sz="1500" dirty="0"/>
          </a:p>
        </p:txBody>
      </p:sp>
      <p:sp>
        <p:nvSpPr>
          <p:cNvPr id="5" name="Text 3"/>
          <p:cNvSpPr/>
          <p:nvPr/>
        </p:nvSpPr>
        <p:spPr>
          <a:xfrm>
            <a:off x="548640" y="3886200"/>
            <a:ext cx="8046720" cy="457200"/>
          </a:xfrm>
          <a:prstGeom prst="rect">
            <a:avLst/>
          </a:prstGeom>
          <a:noFill/>
          <a:ln/>
        </p:spPr>
        <p:txBody>
          <a:bodyPr wrap="square" rtlCol="0" anchor="ctr"/>
          <a:lstStyle/>
          <a:p>
            <a:pPr indent="0" marL="0">
              <a:buNone/>
            </a:pPr>
            <a:r>
              <a:rPr lang="en-US" sz="1800" dirty="0">
                <a:solidFill>
                  <a:srgbClr val="F2C744"/>
                </a:solidFill>
                <a:latin typeface="Arial Black" pitchFamily="34" charset="0"/>
                <a:ea typeface="Arial Black" pitchFamily="34" charset="-122"/>
                <a:cs typeface="Arial Black" pitchFamily="34" charset="-120"/>
              </a:rPr>
              <a:t>Tijd voor de demo — en daarna jullie vragen.</a:t>
            </a:r>
            <a:endParaRPr lang="en-US" sz="1800" dirty="0"/>
          </a:p>
        </p:txBody>
      </p:sp>
      <p:sp>
        <p:nvSpPr>
          <p:cNvPr id="6" name="Text 4"/>
          <p:cNvSpPr/>
          <p:nvPr/>
        </p:nvSpPr>
        <p:spPr>
          <a:xfrm>
            <a:off x="548640" y="4572000"/>
            <a:ext cx="8046720" cy="320040"/>
          </a:xfrm>
          <a:prstGeom prst="rect">
            <a:avLst/>
          </a:prstGeom>
          <a:noFill/>
          <a:ln/>
        </p:spPr>
        <p:txBody>
          <a:bodyPr wrap="square" rtlCol="0" anchor="ctr"/>
          <a:lstStyle/>
          <a:p>
            <a:pPr indent="0" marL="0">
              <a:buNone/>
            </a:pPr>
            <a:r>
              <a:rPr lang="en-US" sz="1200" dirty="0">
                <a:solidFill>
                  <a:srgbClr val="CFE0E8"/>
                </a:solidFill>
                <a:latin typeface="Arial" pitchFamily="34" charset="0"/>
                <a:ea typeface="Arial" pitchFamily="34" charset="-122"/>
                <a:cs typeface="Arial" pitchFamily="34" charset="-120"/>
              </a:rPr>
              <a:t>Aba &amp; Rick · Urban Travel Blog Berlijn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Travel Blog — Berlijn 2026</dc:title>
  <dc:subject>PptxGenJS Presentation</dc:subject>
  <dc:creator>Aba &amp; Rick</dc:creator>
  <cp:lastModifiedBy>Aba &amp; Rick</cp:lastModifiedBy>
  <cp:revision>1</cp:revision>
  <dcterms:created xsi:type="dcterms:W3CDTF">2026-06-11T13:44:49Z</dcterms:created>
  <dcterms:modified xsi:type="dcterms:W3CDTF">2026-06-11T13:44:49Z</dcterms:modified>
</cp:coreProperties>
</file>